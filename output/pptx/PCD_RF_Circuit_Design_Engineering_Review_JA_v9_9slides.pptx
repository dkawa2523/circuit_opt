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384f749014a97" /><Relationship Type="http://schemas.openxmlformats.org/officeDocument/2006/relationships/extended-properties" Target="/docProps/app.xml" Id="R244facbff0344193" /><Relationship Type="http://schemas.openxmlformats.org/officeDocument/2006/relationships/officeDocument" Target="/ppt/presentation.xml" Id="R9f15a6c7c96e49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1b55654be4603"/>
  </p:sldMasterIdLst>
  <p:notesMasterIdLst>
    <p:notesMasterId xmlns:r="http://schemas.openxmlformats.org/officeDocument/2006/relationships" r:id="R8b7190e8c7e24c15"/>
  </p:notesMasterIdLst>
  <p:sldIdLst>
    <p:sldId xmlns:r="http://schemas.openxmlformats.org/officeDocument/2006/relationships" id="256" r:id="R7e71ec4651d14005"/>
    <p:sldId xmlns:r="http://schemas.openxmlformats.org/officeDocument/2006/relationships" id="257" r:id="R60233988ca934b41"/>
    <p:sldId xmlns:r="http://schemas.openxmlformats.org/officeDocument/2006/relationships" id="258" r:id="R5d0c5bdaff1748b1"/>
    <p:sldId xmlns:r="http://schemas.openxmlformats.org/officeDocument/2006/relationships" id="259" r:id="R8d9685189df548a5"/>
    <p:sldId xmlns:r="http://schemas.openxmlformats.org/officeDocument/2006/relationships" id="260" r:id="R8a86936e0bf949a4"/>
    <p:sldId xmlns:r="http://schemas.openxmlformats.org/officeDocument/2006/relationships" id="261" r:id="Re8755ca91b0f4be8"/>
    <p:sldId xmlns:r="http://schemas.openxmlformats.org/officeDocument/2006/relationships" id="262" r:id="R94b2dc35f42d440f"/>
    <p:sldId xmlns:r="http://schemas.openxmlformats.org/officeDocument/2006/relationships" id="263" r:id="Rcbebebdc6f0d46ca"/>
    <p:sldId xmlns:r="http://schemas.openxmlformats.org/officeDocument/2006/relationships" id="264" r:id="Rf5bc28c2f5ee46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cd85a422a44ac" /><Relationship Type="http://schemas.openxmlformats.org/officeDocument/2006/relationships/slideMaster" Target="/ppt/slideMasters/slideMaster1.xml" Id="Rd9e1b55654be4603" /><Relationship Type="http://schemas.openxmlformats.org/officeDocument/2006/relationships/notesMaster" Target="/ppt/notesMasters/notesMaster1.xml" Id="R8b7190e8c7e24c15" /><Relationship Type="http://schemas.openxmlformats.org/officeDocument/2006/relationships/presProps" Target="/ppt/presProps.xml" Id="Rbc2e261d6fb646d4" /><Relationship Type="http://schemas.openxmlformats.org/officeDocument/2006/relationships/tableStyles" Target="/ppt/tableStyles.xml" Id="R39d4f26074c14850" /><Relationship Type="http://schemas.openxmlformats.org/officeDocument/2006/relationships/slide" Target="/ppt/slides/slide1.xml" Id="R7e71ec4651d14005" /><Relationship Type="http://schemas.openxmlformats.org/officeDocument/2006/relationships/slide" Target="/ppt/slides/slide2.xml" Id="R60233988ca934b41" /><Relationship Type="http://schemas.openxmlformats.org/officeDocument/2006/relationships/slide" Target="/ppt/slides/slide3.xml" Id="R5d0c5bdaff1748b1" /><Relationship Type="http://schemas.openxmlformats.org/officeDocument/2006/relationships/slide" Target="/ppt/slides/slide4.xml" Id="R8d9685189df548a5" /><Relationship Type="http://schemas.openxmlformats.org/officeDocument/2006/relationships/slide" Target="/ppt/slides/slide5.xml" Id="R8a86936e0bf949a4" /><Relationship Type="http://schemas.openxmlformats.org/officeDocument/2006/relationships/slide" Target="/ppt/slides/slide6.xml" Id="Re8755ca91b0f4be8" /><Relationship Type="http://schemas.openxmlformats.org/officeDocument/2006/relationships/slide" Target="/ppt/slides/slide7.xml" Id="R94b2dc35f42d440f" /><Relationship Type="http://schemas.openxmlformats.org/officeDocument/2006/relationships/slide" Target="/ppt/slides/slide8.xml" Id="Rcbebebdc6f0d46ca" /><Relationship Type="http://schemas.openxmlformats.org/officeDocument/2006/relationships/slide" Target="/ppt/slides/slide9.xml" Id="Rf5bc28c2f5ee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5d7beb623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5ce1b96644490" /><Relationship Type="http://schemas.openxmlformats.org/officeDocument/2006/relationships/notesMaster" Target="/ppt/notesMasters/notesMaster1.xml" Id="Rdc093cb1e466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9a0a742a54a3b" /><Relationship Type="http://schemas.openxmlformats.org/officeDocument/2006/relationships/notesMaster" Target="/ppt/notesMasters/notesMaster1.xml" Id="R0bd1ba4d34974d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81e000023a424a" /><Relationship Type="http://schemas.openxmlformats.org/officeDocument/2006/relationships/notesMaster" Target="/ppt/notesMasters/notesMaster1.xml" Id="R467f283fd499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e0d8cd4834efb" /><Relationship Type="http://schemas.openxmlformats.org/officeDocument/2006/relationships/notesMaster" Target="/ppt/notesMasters/notesMaster1.xml" Id="Rb69796096f5c43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bf0fa954b04d4d" /><Relationship Type="http://schemas.openxmlformats.org/officeDocument/2006/relationships/notesMaster" Target="/ppt/notesMasters/notesMaster1.xml" Id="R2177731360fa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d532e92134fb1" /><Relationship Type="http://schemas.openxmlformats.org/officeDocument/2006/relationships/notesMaster" Target="/ppt/notesMasters/notesMaster1.xml" Id="R47fcc7177b4f42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06479459cc4b1c" /><Relationship Type="http://schemas.openxmlformats.org/officeDocument/2006/relationships/notesMaster" Target="/ppt/notesMasters/notesMaster1.xml" Id="R13cc86ccecb34b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0ff45ba2374c64" /><Relationship Type="http://schemas.openxmlformats.org/officeDocument/2006/relationships/notesMaster" Target="/ppt/notesMasters/notesMaster1.xml" Id="R7d2597f93d9f44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c82d3cb5b0403b" /><Relationship Type="http://schemas.openxmlformats.org/officeDocument/2006/relationships/notesMaster" Target="/ppt/notesMasters/notesMaster1.xml" Id="R97223e209ef1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Design reference:</a:t>
            </a:r>
          </a:p>
          <a:p xmlns:a="http://schemas.openxmlformats.org/drawingml/2006/main">
            <a:r>
              <a:t>- PCD_RF_Circuit_Design_Engineering_Review_JA_v6.pptx</a:t>
            </a:r>
          </a:p>
          <a:p xmlns:a="http://schemas.openxmlformats.org/drawingml/2006/main">
            <a:r>
              <a:t>- Public Tokyo Electron IR presentation visual language only. No logo or proprietary master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bench/figures/generated/01-analysis-boundary-and-topologies.png</a:t>
            </a:r>
          </a:p>
          <a:p xmlns:a="http://schemas.openxmlformats.org/drawingml/2006/main">
            <a:r>
              <a:t>- docs/technical-specification-ja.md §§3, 4, 11</a:t>
            </a:r>
          </a:p>
          <a:p xmlns:a="http://schemas.openxmlformats.org/drawingml/2006/main">
            <a:r>
              <a:t>Acceptance: reflected-power fraction &lt;= 0.10, equivalent to |Gamma| &lt;= 0.31622776601683794.</a:t>
            </a:r>
          </a:p>
          <a:p xmlns:a="http://schemas.openxmlformats.org/drawingml/2006/main">
            <a:r>
              <a:t>Physical boundary: the chamber enters as a declared electrical one-port at a named reference plane.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docs/technical-specification-ja.md §8.1</a:t>
            </a:r>
          </a:p>
          <a:p xmlns:a="http://schemas.openxmlformats.org/drawingml/2006/main">
            <a:r>
              <a:t>- pcd/case.py, pcd/plan.py, pcd/study_config.py, pcd/netlist.py, pcd/solver.py, pcd/metrics.py, pcd/results/</a:t>
            </a:r>
          </a:p>
          <a:p xmlns:a="http://schemas.openxmlformats.org/drawingml/2006/main">
            <a:r>
              <a:t>The diagram shows the numerical data path, not every Python import.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bench/figures/generated/figure_data.json</a:t>
            </a:r>
          </a:p>
          <a:p xmlns:a="http://schemas.openxmlformats.org/drawingml/2006/main">
            <a:r>
              <a:t>Frozen suite: 16 cases, 19 candidates, 411 evaluations, 0 failed evaluations.</a:t>
            </a:r>
          </a:p>
          <a:p xmlns:a="http://schemas.openxmlformats.org/drawingml/2006/main">
            <a:r>
              <a:t>Evaluation counts: A=9, B=399, D=3.</a:t>
            </a:r>
          </a:p>
          <a:p xmlns:a="http://schemas.openxmlformats.org/drawingml/2006/main">
            <a:r>
              <a:t>Benchmark PASS means the declared expectation was reproduced. It does not mean the candidate is engineering-feasible.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control_cases.B1/B2/B3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B1 feasible_fraction=0.2, worst |Gamma|=0.7672066486794401.</a:t>
            </a:r>
          </a:p>
          <a:p xmlns:a="http://schemas.openxmlformats.org/drawingml/2006/main">
            <a:r>
              <a:t>B2 feasible_fraction=0.4, worst |Gamma|=0.30200504425254665, control_margin=0; three scenarios fail min_control_margin.</a:t>
            </a:r>
          </a:p>
          <a:p xmlns:a="http://schemas.openxmlformats.org/drawingml/2006/main">
            <a:r>
              <a:t>B3 feasible_fraction=1, worst |Gamma|=0.038844448497050175, control_margin=0.23255813953488372.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a5</a:t>
            </a:r>
          </a:p>
          <a:p xmlns:a="http://schemas.openxmlformats.org/drawingml/2006/main">
            <a:r>
              <a:t>- runs/benchmark_suite/benchmark_result.json A5_icp_transformer_frequency_conformance</a:t>
            </a:r>
          </a:p>
          <a:p xmlns:a="http://schemas.openxmlformats.org/drawingml/2006/main">
            <a:r>
              <a:t>Data: |Gamma|=0.9977743741208945, 4.787813681571927e-12, 0.999914993914838 at 10, 13.56, and 20 MHz.</a:t>
            </a:r>
          </a:p>
          <a:p xmlns:a="http://schemas.openxmlformats.org/drawingml/2006/main">
            <a:r>
              <a:t>The three frequencies are independent discrete scenarios; no continuous-band interpolation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b5</a:t>
            </a:r>
          </a:p>
          <a:p xmlns:a="http://schemas.openxmlformats.org/drawingml/2006/main">
            <a:r>
              <a:t>- runs/benchmark_suite/benchmark_result.json B5_high_drive_stress</a:t>
            </a:r>
          </a:p>
          <a:p xmlns:a="http://schemas.openxmlformats.org/drawingml/2006/main">
            <a:r>
              <a:t>Low drive: 25 Vpk, |Gamma|=0.011035382019418111. High drive: 100 Vpk, |Gamma|=0.011035382019418161.</a:t>
            </a:r>
          </a:p>
          <a:p xmlns:a="http://schemas.openxmlformats.org/drawingml/2006/main">
            <a:r>
              <a:t>High-drive limit ratios: 2.083876455159899, 4.342541080369787, 1.4232793495772509, 2.0128209592177053.</a:t>
            </a:r>
          </a:p>
          <a:p xmlns:a="http://schemas.openxmlformats.org/drawingml/2006/main">
            <a:r>
              <a:t>Linear AC scaling preserves reflection while voltage/current scale with amplitude and power/loss scale with amplitude squared.</a:t>
            </a:r>
          </a:p>
          <a:p xmlns:a="http://schemas.openxmlformats.org/drawingml/2006/main">
            <a:r>
              <a:t>Source apparent power is a terminal quantity, not a claim of forward generator power.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b8 and reference_plane</a:t>
            </a:r>
          </a:p>
          <a:p xmlns:a="http://schemas.openxmlformats.org/drawingml/2006/main">
            <a:r>
              <a:t>- runs/benchmark_suite/benchmark_result.json B8_component_value_corner_stress and D1–D3</a:t>
            </a:r>
          </a:p>
          <a:p xmlns:a="http://schemas.openxmlformats.org/drawingml/2006/main">
            <a:r>
              <a:t>B8 reflection values: 0.3138060449485408, 0.3033133703168062, 0.29261084516467445, 0.31731383100605454, 0.35106614999425845, 0.3324299127343038, 0.350880419346502, 0.3724936145006189; 3 of 8 deterministic corners pass.</a:t>
            </a:r>
          </a:p>
          <a:p xmlns:a="http://schemas.openxmlformats.org/drawingml/2006/main">
            <a:r>
              <a:t>Reference-plane values: D1=0.03829679687789924, D2=0.038296796877719114, D3=0.3418282828657569.</a:t>
            </a:r>
          </a:p>
          <a:p xmlns:a="http://schemas.openxmlformats.org/drawingml/2006/main">
            <a:r>
              <a:t>The B8 corner spread is a deterministic scenario envelope, not a probability distribution or yield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docs/technical-specification-ja.md §§2, 19, 20, 21</a:t>
            </a:r>
          </a:p>
          <a:p xmlns:a="http://schemas.openxmlformats.org/drawingml/2006/main">
            <a:r>
              <a:t>Conclusion scope: the platform supports electrical circuit decisions within the declared models and limits. It does not qualify plasma chemistry, thermal lifetime, safety, or process yield.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67ecd8bcb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8260baf014af4" /><Relationship Type="http://schemas.openxmlformats.org/officeDocument/2006/relationships/slideLayout" Target="/ppt/slideLayouts/slideLayout1.xml" Id="R9f454aa89b4846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54aa89b4846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2f9b28076453d" /><Relationship Type="http://schemas.openxmlformats.org/officeDocument/2006/relationships/notesSlide" Target="/ppt/notesSlides/notesSlide1.xml" Id="R527bce1eccfb43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f8a79a90140d7" /><Relationship Type="http://schemas.openxmlformats.org/officeDocument/2006/relationships/image" Target="/ppt/media/image.png" Id="R7af06b98fc7a4258" /><Relationship Type="http://schemas.openxmlformats.org/officeDocument/2006/relationships/notesSlide" Target="/ppt/notesSlides/notesSlide2.xml" Id="R8c943f578420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1e3480894297" /><Relationship Type="http://schemas.openxmlformats.org/officeDocument/2006/relationships/notesSlide" Target="/ppt/notesSlides/notesSlide3.xml" Id="R36182b013ef2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44fb8365d465c" /><Relationship Type="http://schemas.openxmlformats.org/officeDocument/2006/relationships/notesSlide" Target="/ppt/notesSlides/notesSlide4.xml" Id="R6ca1e1d798524c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d378ab1dd4d14" /><Relationship Type="http://schemas.openxmlformats.org/officeDocument/2006/relationships/chart" Target="/ppt/slides/charts/chart1.xml" Id="Rb2fdc837215a4a0c" /><Relationship Type="http://schemas.openxmlformats.org/officeDocument/2006/relationships/chart" Target="/ppt/slides/charts/chart2.xml" Id="R535ab40595b54574" /><Relationship Type="http://schemas.openxmlformats.org/officeDocument/2006/relationships/notesSlide" Target="/ppt/notesSlides/notesSlide5.xml" Id="R5ccce823fae3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8d19d03643e9" /><Relationship Type="http://schemas.openxmlformats.org/officeDocument/2006/relationships/chart" Target="/ppt/slides/charts/chart3.xml" Id="R959b35a68e4c441a" /><Relationship Type="http://schemas.openxmlformats.org/officeDocument/2006/relationships/notesSlide" Target="/ppt/notesSlides/notesSlide6.xml" Id="R71f0a4dc349347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f76a9fa04f42" /><Relationship Type="http://schemas.openxmlformats.org/officeDocument/2006/relationships/chart" Target="/ppt/slides/charts/chart4.xml" Id="Rc7c3bb22c7b247b0" /><Relationship Type="http://schemas.openxmlformats.org/officeDocument/2006/relationships/chart" Target="/ppt/slides/charts/chart5.xml" Id="Rc75b83c8c7024c41" /><Relationship Type="http://schemas.openxmlformats.org/officeDocument/2006/relationships/notesSlide" Target="/ppt/notesSlides/notesSlide7.xml" Id="R18b0a1c6fdf74d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469c1ba804ee3" /><Relationship Type="http://schemas.openxmlformats.org/officeDocument/2006/relationships/chart" Target="/ppt/slides/charts/chart6.xml" Id="R1771b123d37c4142" /><Relationship Type="http://schemas.openxmlformats.org/officeDocument/2006/relationships/chart" Target="/ppt/slides/charts/chart7.xml" Id="R736d53e6888a4445" /><Relationship Type="http://schemas.openxmlformats.org/officeDocument/2006/relationships/notesSlide" Target="/ppt/notesSlides/notesSlide8.xml" Id="R3ffe88538992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fbe60dceb4b64" /><Relationship Type="http://schemas.openxmlformats.org/officeDocument/2006/relationships/notesSlide" Target="/ppt/notesSlides/notesSlide9.xml" Id="R9143eca97e8c4e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feasible fraction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B1
固定</c:v>
                </c:pt>
                <c:pt idx="1">
                  <c:v>B2
限定</c:v>
                </c:pt>
                <c:pt idx="2">
                  <c:v>B3
全域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0.2</c:v>
                </c:pt>
                <c:pt idx="1">
                  <c:v>0.4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feasible fraction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worst 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B1
固定</c:v>
                </c:pt>
                <c:pt idx="1">
                  <c:v>B2
限定</c:v>
                </c:pt>
                <c:pt idx="2">
                  <c:v>B3
全域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0.767206648679</c:v>
                </c:pt>
                <c:pt idx="1">
                  <c:v>0.302005044253</c:v>
                </c:pt>
                <c:pt idx="2">
                  <c:v>0.0388444484971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0.8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worst 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10.00
MHz</c:v>
                </c:pt>
                <c:pt idx="1">
                  <c:v>13.56
MHz</c:v>
                </c:pt>
                <c:pt idx="2">
                  <c:v>20.00
MHz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0.997774374121</c:v>
                </c:pt>
                <c:pt idx="1">
                  <c:v>0</c:v>
                </c:pt>
                <c:pt idx="2">
                  <c:v>0.999914993915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電圧・電流</c:v>
          </c:tx>
          <c:spPr>
            <a:solidFill xmlns:a="http://schemas.openxmlformats.org/drawingml/2006/main">
              <a:srgbClr val="00A8D7"/>
            </a:solidFill>
          </c:spPr>
          <c:cat>
            <c:strRef>
              <c:f>'Chart Data'!$A$2:$A$3</c:f>
              <c:strCache>
                <c:ptCount val="2"/>
                <c:pt idx="0">
                  <c:v>25 Vpk</c:v>
                </c:pt>
                <c:pt idx="1">
                  <c:v>100 Vpk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v>電力・損失</c:v>
          </c:tx>
          <c:spPr>
            <a:solidFill xmlns:a="http://schemas.openxmlformats.org/drawingml/2006/main">
              <a:srgbClr val="F36F21"/>
            </a:solidFill>
          </c:spPr>
          <c:cat>
            <c:strRef>
              <c:f>'Chart Data'!$C$2:$C$3</c:f>
              <c:strCache>
                <c:ptCount val="2"/>
                <c:pt idx="0">
                  <c:v>25 Vpk</c:v>
                </c:pt>
                <c:pt idx="1">
                  <c:v>100 Vpk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</c:v>
                </c:pt>
                <c:pt idx="1">
                  <c:v>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25 Vpk 基準 [倍]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F36F2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L1 電流</c:v>
                </c:pt>
                <c:pt idx="1">
                  <c:v>L1 損失</c:v>
                </c:pt>
                <c:pt idx="2">
                  <c:v>source 電流</c:v>
                </c:pt>
                <c:pt idx="3">
                  <c:v>source VA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2.08387645516</c:v>
                </c:pt>
                <c:pt idx="1">
                  <c:v>4.34254108037</c:v>
                </c:pt>
                <c:pt idx="2">
                  <c:v>1.42327934958</c:v>
                </c:pt>
                <c:pt idx="3">
                  <c:v>2.01282095922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−−−</c:v>
                </c:pt>
                <c:pt idx="1">
                  <c:v>−−+</c:v>
                </c:pt>
                <c:pt idx="2">
                  <c:v>−+−</c:v>
                </c:pt>
                <c:pt idx="3">
                  <c:v>−++</c:v>
                </c:pt>
                <c:pt idx="4">
                  <c:v>+−−</c:v>
                </c:pt>
                <c:pt idx="5">
                  <c:v>+−+</c:v>
                </c:pt>
                <c:pt idx="6">
                  <c:v>++−</c:v>
                </c:pt>
                <c:pt idx="7">
                  <c:v>+++</c:v>
                </c:pt>
              </c:strCache>
            </c:strRef>
          </c:cat>
          <c:val>
            <c:numRef>
              <c:f>'Chart Data'!$B$2:$B$9</c:f>
              <c:numCache>
                <c:formatCode>0.000</c:formatCode>
                <c:ptCount val="8"/>
                <c:pt idx="0">
                  <c:v>0.313806044949</c:v>
                </c:pt>
                <c:pt idx="1">
                  <c:v>0.303313370317</c:v>
                </c:pt>
                <c:pt idx="2">
                  <c:v>0.292610845165</c:v>
                </c:pt>
                <c:pt idx="3">
                  <c:v>0.317313831006</c:v>
                </c:pt>
                <c:pt idx="4">
                  <c:v>0.351066149994</c:v>
                </c:pt>
                <c:pt idx="5">
                  <c:v>0.332429912734</c:v>
                </c:pt>
                <c:pt idx="6">
                  <c:v>0.350880419347</c:v>
                </c:pt>
                <c:pt idx="7">
                  <c:v>0.372493614501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0.4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D1
治具明示</c:v>
                </c:pt>
                <c:pt idx="1">
                  <c:v>D2
1回埋込</c:v>
                </c:pt>
                <c:pt idx="2">
                  <c:v>D3
二重計上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0.0382967968779</c:v>
                </c:pt>
                <c:pt idx="1">
                  <c:v>0.0382967968777</c:v>
                </c:pt>
                <c:pt idx="2">
                  <c:v>0.341828282866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0.4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16173-942E-48A1-AF7A-48789B0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ENGINEERING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D776E3-8015-4B8B-B379-F215E6B0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9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PCD RF回路設計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9枚で読む検証結果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0E58C-E251-46CB-8234-67C3440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E9EDF5"/>
                </a:solidFill>
                <a:latin typeface="Yu Gothic"/>
                <a:ea typeface="Yu Gothic"/>
                <a:cs typeface="Yu Gothic"/>
              </a:defRPr>
            </a:pPr>
            <a:r>
              <a:rPr sz="1875" b="0" i="0">
                <a:solidFill>
                  <a:srgbClr val="E9EDF5"/>
                </a:solidFill>
                <a:latin typeface="Yu Gothic"/>
                <a:ea typeface="Yu Gothic"/>
                <a:cs typeface="Yu Gothic"/>
              </a:rPr>
              <a:t>問題設定から工学判定まで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6B40F-F14B-41CC-B2E4-2E82F881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70"/>
          </a:solidFill>
          <a:ln xmlns:a="http://schemas.openxmlformats.org/drawingml/2006/main" w="0">
            <a:solidFill>
              <a:srgbClr val="163B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9A446-6CE2-47EA-8A31-81C9D4D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73071-94DC-4848-AD97-26911E7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D2766-952A-4901-9729-04E2E40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B8816-D72B-446C-873F-D5C49C4F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rPr>
              <a:t>PCD 0.16.0　凍結ベンチマーク 2026-09-15　ngspice_cli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720AD-466B-4D37-93B0-9447BBA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TECHNICAL DESIGN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9580A-5E57-4B3A-AC2A-7B886604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549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95C97CE2-91A9-4119-A4B8-4CAAEB32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02  PROBLEM BACKGROUND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24836C1-24EF-455B-BC42-648BEAE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課題背景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9167C-AECD-438E-B51E-B05C131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83B77-933E-49AC-BBD5-3C32E977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RF boundary and topology figure /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6C384-ABEC-47E2-8B99-3E8CAFAE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8F76-231A-4119-84EA-9F19BD31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D9F82-90D0-450C-98C2-A69B8CB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9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整合点だけでは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9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装置可否を決められない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7C806-EF64-478B-BF70-BE0FCDE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6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63FE4-048C-4818-870E-F5E17D1F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負荷・周波数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6D87F-D185-4249-95FE-B365A1C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Zload は運転条件で変わる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081C-E9DD-4CF1-935A-3D8E162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6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4FD08-F6BF-4A37-9AB0-379A123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調整権限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3BC2C-5D5C-40AA-8D16-DA58F35B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可動域と余裕が有限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51DB7-9AF6-4D63-B7A1-9613E8E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6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DDE31-F7F7-4730-96D0-64141C77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装置制約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2BFE6-0FD9-4F47-A231-976EBE1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電流・損失・基準面が判定を変える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0C4F5-CA5A-441E-961A-4070570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086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1430">
            <a:solidFill>
              <a:srgbClr val="00A8D7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Γ = (Zin − Z0)/(Zin + Z0)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Prefl / Pinc = |Γ|²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31346-1394-4C04-A169-642C256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本ベンチマークの上限  |Γ| ≤ √0.1 = 0.3162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1C0B5-009C-41F8-94B9-33D7D01E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95400"/>
            <a:ext cx="74676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06b98fc7a4258"/>
          <a:stretch xmlns:a="http://schemas.openxmlformats.org/drawingml/2006/main"/>
        </p:blipFill>
        <p:spPr>
          <a:xfrm xmlns:a="http://schemas.openxmlformats.org/drawingml/2006/main">
            <a:off x="4276427" y="1409700"/>
            <a:ext cx="6991945" cy="462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2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-3">
            <a:extLst xmlns:a="http://schemas.openxmlformats.org/drawingml/2006/main">
              <a:ext uri="{FF2B5EF4-FFF2-40B4-BE49-F238E27FC236}">
                <a16:creationId xmlns:a16="http://schemas.microsoft.com/office/drawing/2014/main" id="{701911D0-3B47-4872-AE2E-800734D4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03  CODE PROCESSING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FE6B16A-4A88-4D0A-A776-421CAB98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コードの処理構成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8D92F-0AA1-4393-A388-D5BB2DB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7BBE6-B905-4AF8-B49D-EB60A434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docs/architecture.md / public numerical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EC2ED-D2B8-4F11-B28D-C77D973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E4BA2-A3FA-438F-AE23-EAACFB8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0B7A9-C8CC-4A20-A8BF-37379CD5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入力を一度だけ実行形式へ解決し、全評価を同じ Case から生成する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2DCFE-AD2E-458D-AD6C-66A39842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B075F-6296-4253-B0F0-D3BE9B7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191CB-ACD3-4965-A1ED-E6B7286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入力と検査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6FE15-4C1A-4316-B18D-F99BC8C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YAML / JSON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case.py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03935-7444-4ECB-A5FC-193F13E8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F1CB4-E7D5-431A-A99F-9D1850AF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FCC25-4FB9-46BE-A58B-27559D26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実行計画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98BF9-6D22-4D28-BFDA-24242D6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Resolved Case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plan.py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A08B3-C3CE-4859-884B-C4D2471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C5FF5-F2A7-4667-B258-68DFE29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77CBA-14C6-421A-AF79-D5AFCCC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評価格子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1C180-6B02-4CFE-826C-EC3714CE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Candidate × Scenario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× ControlState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461E3-CFC5-4BCE-95B1-C5C6C43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C1F1-AB1C-4D47-B70E-F563C20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39D6F-BDFA-4426-90CC-D298C9D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回路計算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40573-64CD-4E69-8D14-AAB679B7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netlist.py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ngspice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5DDC7-BB05-4885-8F13-A6C6D48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AC8DC-4A3B-47FB-9D68-63F0439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058AB-F1B1-4710-BF1D-CF43659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工学判定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7066F-E931-40D6-8E74-4B531A32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Γ・V・I・P・loss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metrics.py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B22D7-7703-4420-A0FD-0C2587FD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16192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3335">
            <a:solidFill>
              <a:srgbClr val="1E3F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0B720-2F7C-4746-9BBF-7259E5A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764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E3F7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1E3F7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17584-21C0-4DD0-B0B5-6C1F6DFB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1050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30806-42D2-4BE5-B7C8-E76655B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955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 i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study_result.json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 i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evaluations.csv</a:t>
            </a:r>
          </a:p>
        </p:txBody>
      </p: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145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3860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626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8670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86D2AC-3CA7-4471-AD4F-C8956B77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3543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5B3D7-BF44-40CE-B108-E437024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FDF6B4-95CF-420B-AD60-3DEBF61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入力解釈を一箇所に固定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AA5D00-CA72-4933-8D32-CAEDD36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3543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5DB268-FA88-4F2B-84B2-F62C2CA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EVALUATE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F40218-BB33-4F04-9F20-3B93A09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各評価を独立実行し、失敗も保存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A556AA-0CD1-4AB2-BA95-7ACA75C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3543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EB130-4689-4415-8A7C-F905CFF1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DECIDE &amp; PUBLISH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2C430B-9110-4C42-8B2D-A389B57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feasibility-first 集約と原子的公開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AE4BA-721F-46F1-B91F-5DE3A724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62500"/>
            <a:ext cx="632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Neval = Ncand × Σs Ncontrol(s)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BFC8A9-D162-43E5-B476-C4A901E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435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各電気評価の状態・入力指紋・成果物を保持してから候補を集約</a:t>
            </a:r>
          </a:p>
        </p:txBody>
      </p:sp>
    </p:spTree>
    <p:extLst>
      <p:ext uri="{BB962C8B-B14F-4D97-AF65-F5344CB8AC3E}">
        <p14:creationId xmlns:p14="http://schemas.microsoft.com/office/powerpoint/2010/main" val="1817921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icker-4">
            <a:extLst xmlns:a="http://schemas.openxmlformats.org/drawingml/2006/main">
              <a:ext uri="{FF2B5EF4-FFF2-40B4-BE49-F238E27FC236}">
                <a16:creationId xmlns:a16="http://schemas.microsoft.com/office/drawing/2014/main" id="{F569E173-ABD9-4080-AB82-72FAC97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04  FROZEN BENCHMARK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293D945-B7B2-40F5-922C-A1108C30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ベンチマークの問題設定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88BD0-019D-489D-935B-6DB31DC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4239E-71EF-48E4-A345-82B9276E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runs/benchmark_suite/benchmark_result.json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768E1-9BED-4072-BAEC-524EBCA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0A951-A008-4A11-BB57-FFDF9226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CB501-B3F0-488B-AE95-5A1903BF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3314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D2A9C-A55F-4B9D-81EF-987E04B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A1–A5  回路式・有効負荷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2A3C9-6474-4257-91E4-D2D95D9E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906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47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5 cases / 9 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45A17-F683-4B2E-9DC5-503E97FE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76350"/>
            <a:ext cx="3314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CB58C-38AE-48EE-8E99-29BCFA21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81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B1–B8  調整・探索・ストレス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BDEDD-1FF3-4B78-BC2D-8174AE14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906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5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8 cases / 399 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FAB1B-9D6C-43F7-88D5-20D9A0E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76350"/>
            <a:ext cx="3314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8D9E1-550A-4D85-B8CD-96FD9FC5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D1–D3  基準面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F45D-DA39-43D0-B0B6-7E6F2D5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906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47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 cases / 3 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7E980-26DA-41D3-9643-002C5E2B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1431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1A09D-FD0D-4BC5-B9BA-A33B20C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Candidate ×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B8F45-21F3-49CF-91AF-825090B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× ControlState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1C65F-0753-4974-AFF3-72141A4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05050"/>
            <a:ext cx="1619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5321A-E93B-423E-9E94-8748D544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98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ngspice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50C10-C4C4-4BAF-A4C7-7CEEEAE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003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実回路計算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8BC64-4CA0-480A-8607-F381F61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05050"/>
            <a:ext cx="2000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3335">
            <a:solidFill>
              <a:srgbClr val="1E3F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4C02C-1625-4C25-B029-A04392CF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電気量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A5939-D33C-4007-83D7-197EE9A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003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Γ・V・I・P・loss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14BD2-F4D5-4907-BB51-A162E4A6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05050"/>
            <a:ext cx="1619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A3E23-9A34-4FDD-8095-67582C30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98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制約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03856-C954-4866-8136-BEE453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003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限界値と余裕</a:t>
            </a:r>
          </a:p>
        </p:txBody>
      </p:sp>
      <p:cxnSp>
        <p:nvCxnSpPr>
          <p:cNvPr id="76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828925" y="2752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886325" y="2752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324725" y="27527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BC9F0-FAEF-40A4-9D68-DAF1A45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05025"/>
            <a:ext cx="16859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6EBA9-C2D0-43CE-95E9-39762A7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09800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Benchmark 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27B58-9080-4CB7-896E-7ACA4A9D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00325"/>
            <a:ext cx="1457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期待した数値・分類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48258E-5608-4393-BF31-1A55B6C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90850"/>
            <a:ext cx="16859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2D855-CC0B-455C-8995-587B0F70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956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Engineering feasible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2DCDE5-9E9E-41C7-A66A-F8CEB13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86150"/>
            <a:ext cx="1457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全制約を満足</a:t>
            </a:r>
          </a:p>
        </p:txBody>
      </p:sp>
      <p:cxnSp>
        <p:nvCxnSpPr>
          <p:cNvPr id="85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9382125" y="2476500"/>
            <a:ext cx="43815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5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9382125" y="2752725"/>
            <a:ext cx="4381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4F4F6D-26C9-4707-BDF8-F5B0F9AD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552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受入上限  |Γ| ≤ √0.1 = 0.3162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F8DBA9-A386-4089-91A3-EFAD687A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32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636A7-062F-4134-A090-846CB99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cases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AF8012-CD23-4053-8A42-F420855E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52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3225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5AC58B-F4D3-49A8-8E17-CF7392E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candidates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C22414-AD3A-49C4-ABC8-FD70B12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 i="0">
                <a:solidFill>
                  <a:srgbClr val="1E3F73"/>
                </a:solidFill>
                <a:latin typeface="Yu Gothic"/>
                <a:ea typeface="Yu Gothic"/>
                <a:cs typeface="Yu Gothic"/>
              </a:defRPr>
            </a:pPr>
            <a:r>
              <a:rPr sz="3225" b="1" i="0">
                <a:solidFill>
                  <a:srgbClr val="1E3F73"/>
                </a:solidFill>
                <a:latin typeface="Yu Gothic"/>
                <a:ea typeface="Yu Gothic"/>
                <a:cs typeface="Yu Gothic"/>
              </a:rPr>
              <a:t>411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2A325A-BA7C-4EA5-9054-313B793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ngspice evaluations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74E0CD-5B60-4366-8AF2-20B3047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32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DD86EA-1138-4546-AFBD-2996EF7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solver failures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EFAE14-7A0C-42D3-A63C-8C36CB40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3405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6 feasible / 10 diagnostic infeasible</a:t>
            </a:r>
          </a:p>
        </p:txBody>
      </p:sp>
    </p:spTree>
    <p:extLst>
      <p:ext uri="{BB962C8B-B14F-4D97-AF65-F5344CB8AC3E}">
        <p14:creationId xmlns:p14="http://schemas.microsoft.com/office/powerpoint/2010/main" val="35729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5">
            <a:extLst xmlns:a="http://schemas.openxmlformats.org/drawingml/2006/main">
              <a:ext uri="{FF2B5EF4-FFF2-40B4-BE49-F238E27FC236}">
                <a16:creationId xmlns:a16="http://schemas.microsoft.com/office/drawing/2014/main" id="{D18CE068-8E02-4A12-906A-83F0007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05  RESULTS 1/4  CONTROL AUTHORITY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96FD82B-D875-4244-9955-047BDEB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調整権限で運転窓の成立率は20%から100%へ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6BD32-F289-41FC-8250-DAD326A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E635-ADD9-476E-8A41-D4402EC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B1–B3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CD629-AE2C-4B60-8EFE-0B2A41A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D9B68-C97D-43F0-96D0-F8C2006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83F62-BD06-43C7-81BD-72B0448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全5負荷条件に対する feasible fraction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F6E14-F0F9-48E7-BC01-5FA755F3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最悪反射振幅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dc837215a4a0c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324600" y="1562100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5ab40595b5457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57C2F-B816-41AB-ADDD-D0095D5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58447"/>
            <a:ext cx="433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33C32-9092-431E-A714-045921E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29847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上限 0.3162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51913-23B4-4410-B9DC-EC7104D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83E67-936E-41AC-BD36-30945E2A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B2は worst |Γ|=0.302 でも不合格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BF147-DFED-4215-BCD4-561C92D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102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3 / 5 条件で調整余裕が不足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F3F16-F429-4A8A-B983-F37CF14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10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B3 min margin = 0.233</a:t>
            </a:r>
          </a:p>
        </p:txBody>
      </p:sp>
    </p:spTree>
    <p:extLst>
      <p:ext uri="{BB962C8B-B14F-4D97-AF65-F5344CB8AC3E}">
        <p14:creationId xmlns:p14="http://schemas.microsoft.com/office/powerpoint/2010/main" val="1836998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6">
            <a:extLst xmlns:a="http://schemas.openxmlformats.org/drawingml/2006/main">
              <a:ext uri="{FF2B5EF4-FFF2-40B4-BE49-F238E27FC236}">
                <a16:creationId xmlns:a16="http://schemas.microsoft.com/office/drawing/2014/main" id="{4355F2E5-86BE-4BE6-BEBC-5E2A577C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06  RESULTS 2/4  FREQUENCY CONFORMANCE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51EA97C-A820-4C0C-9390-3626778B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13.56 MHzの一点整合は周波数外挿できない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9C05-F5C6-41F2-AADD-ADB16504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77A8-8885-4EAC-8ACB-90644F73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A5 ICP-transformer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7DB2A-6CAF-42DF-85EC-7BC806B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2C560-834F-452D-A8D7-09C83D6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9A70-C603-4C96-BB96-3263C574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周波数点別の反射振幅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9b35a68e4c441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BD893-95BD-4A07-8AB9-3EF27B8F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71840"/>
            <a:ext cx="685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F94CF-6878-414C-9F09-2CC819B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4324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上限 0.3162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3E1ED-DAD6-4607-88DF-69CF4C7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36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 /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A3948-8CBE-4025-A834-19902E0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02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周波数点が合格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A750A-0D8A-4FFB-986C-7329521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9525">
            <a:solidFill>
              <a:srgbClr val="00A8D7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Γ = (Zin − 50)/(Zin + 50)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96EEF-A4DF-43A0-A682-A44F2F3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10.00 MHz   16.75 + j865.46 Ω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13.56 MHz   50.00 + j0.00 Ω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20.00 MHz    0.78 + j957.87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7DE5-1261-4A12-9624-D4044A4A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AA174-A00A-4E6D-9B2D-EC94B14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14925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離散3点の検証。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点間の連続帯域は未評価。</a:t>
            </a:r>
          </a:p>
        </p:txBody>
      </p:sp>
    </p:spTree>
    <p:extLst>
      <p:ext uri="{BB962C8B-B14F-4D97-AF65-F5344CB8AC3E}">
        <p14:creationId xmlns:p14="http://schemas.microsoft.com/office/powerpoint/2010/main" val="24125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28C5DA17-47B4-45F6-B58C-E7D77C9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07  RESULTS 3/4  HIGH-DRIVE STRESS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64A7B0D-28D9-4FA8-9126-175E990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低反射でも100 Vpkでは電流と損失が定格超過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7DCCB-14F1-41A4-BD84-2BAED4C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D2E71-E21F-4934-813A-FE039A0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B5 high-drive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2B6F2-1623-4BFA-9594-F71BAC6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6554E-CBA4-456E-85B4-5605537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EFF04-52CE-4164-8744-3E35361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25 Vpkを1としたスケーリング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14350" y="1581150"/>
          <a:ext xmlns:a="http://schemas.openxmlformats.org/drawingml/2006/main" cx="539115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3bb22c7b247b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6DBEC-2BE7-4094-80EF-E38E5B7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2E6F3-D6E1-4B55-823E-87B2F5D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24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V・I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1CD2D-81F3-4661-AADF-F592EED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3A4D4-D00A-4CF0-8EE3-79BFA570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24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P・loss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5FC1C-186F-49A2-BE9D-64A4C168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763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100 Vpk時の limit 比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400800" y="1581150"/>
          <a:ext xmlns:a="http://schemas.openxmlformats.org/drawingml/2006/main" cx="516255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5b83c8c7024c41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1B8FF-832B-4872-81D4-5D75A55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620" y="1771650"/>
            <a:ext cx="9525" cy="308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4CBDB-5FFE-428A-9946-E8E619A1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245" y="1581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limit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B75B5-077C-461B-A853-B18E09F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B8164-842D-4428-87D6-287B0AD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|Γ| = 0.0110 で両駆動点とも不変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4EEDD-088E-4E5A-A888-C591DA53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721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振幅4倍で V・I は4倍、P・loss は16倍</a:t>
            </a:r>
          </a:p>
        </p:txBody>
      </p:sp>
    </p:spTree>
    <p:extLst>
      <p:ext uri="{BB962C8B-B14F-4D97-AF65-F5344CB8AC3E}">
        <p14:creationId xmlns:p14="http://schemas.microsoft.com/office/powerpoint/2010/main" val="283513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8">
            <a:extLst xmlns:a="http://schemas.openxmlformats.org/drawingml/2006/main">
              <a:ext uri="{FF2B5EF4-FFF2-40B4-BE49-F238E27FC236}">
                <a16:creationId xmlns:a16="http://schemas.microsoft.com/office/drawing/2014/main" id="{6388B83A-F704-4C46-9926-753138B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08  RESULTS 4/4  ROBUSTNESS BOUNDARIES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03E5373-122A-4F0F-9354-ED4B4E41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公差と基準面の扱いが判定を反転させる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58E16-200F-4340-97DC-FBA19456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7DD1B-CC49-4E44-8593-80A232AA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B8 and D1–D3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40C13-1444-42D0-A79F-E81ABD2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B4C34-9F9B-4A1B-9D90-71909991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9AB7F-3776-4509-AC2D-175AF8A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B8  ±15% 完全コーナー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5D705-80F9-4434-B452-D3A924C1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76350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D1–D3  基準面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19100" y="1581150"/>
          <a:ext xmlns:a="http://schemas.openxmlformats.org/drawingml/2006/main" cx="6381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71b123d37c414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18623-B362-4F13-81D5-F62A613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2664"/>
            <a:ext cx="5695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A931A-E555-4F01-86B8-111B108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84064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上限 0.3162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953250" y="1581150"/>
          <a:ext xmlns:a="http://schemas.openxmlformats.org/drawingml/2006/main" cx="46672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6d53e6888a444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F12C4-11D7-41FD-89D5-EAF019D3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12664"/>
            <a:ext cx="4057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AFEBC-F3B4-47C3-8634-D4A2440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84064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上限 0.3162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00E20-28E7-4697-A1D1-7E80B76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記号順 C1 / L1 / C2　− = 0.85　+ = 1.15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B5C85-FBFC-4399-9EEA-6F0721E4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A3B7C-1398-450C-88B9-EE219FFA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B8  3 / 8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E24EE-F782-44E4-AC99-9D51CF6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43575"/>
            <a:ext cx="575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E8990-0515-4E2B-98B9-2156E784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293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治具二重計上で |Γ| 0.0383 から 0.3418</a:t>
            </a:r>
          </a:p>
        </p:txBody>
      </p:sp>
    </p:spTree>
    <p:extLst>
      <p:ext uri="{BB962C8B-B14F-4D97-AF65-F5344CB8AC3E}">
        <p14:creationId xmlns:p14="http://schemas.microsoft.com/office/powerpoint/2010/main" val="1511833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9">
            <a:extLst xmlns:a="http://schemas.openxmlformats.org/drawingml/2006/main">
              <a:ext uri="{FF2B5EF4-FFF2-40B4-BE49-F238E27FC236}">
                <a16:creationId xmlns:a16="http://schemas.microsoft.com/office/drawing/2014/main" id="{D25EBAF2-B384-4ADA-B046-85C8FBC4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09  ENGINEERING CONCLUSIONS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D4C741F-AD09-4211-97E1-5DD0012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A72C-B685-4C99-B015-91FD474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10C5A-DC77-4389-A360-89730F3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benchmark interpretation and scope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9348C-5D29-4374-A477-F317DE8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2EF7A-526C-42B0-9FA3-A4979093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72DA2-51C7-49E1-928B-99E26AB6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観測事実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07665-38B3-45D2-93AE-455A3B6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815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設計判断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ECF8-75C0-458A-B1B5-63A450DE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2735C-AD78-4E68-A1A7-2BD0167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0A8D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00A8D7"/>
                </a:solidFill>
                <a:latin typeface="Cambria Math"/>
                <a:ea typeface="Cambria Math"/>
                <a:cs typeface="Cambria Math"/>
              </a:rPr>
              <a:t>20% → 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A90E5-212F-45D1-BA68-55D9FAD5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43075"/>
            <a:ext cx="798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調整器の可動域と余裕を回路仕様に含める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FE55A-F34E-4F8F-9A48-123AD45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0F70C-A2E4-4D1F-900E-A3901C1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1 /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6C042-7BDD-44FB-B1F2-A00A5BA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798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周波数点を独立条件として判定し、点間を外挿しない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370F8-CA22-4FF3-99F9-FCD32C0E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C9B52-F301-40CE-B6C6-3A7F09CA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4× → 16×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00237-A37A-49E5-88B2-B3AB5399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52825"/>
            <a:ext cx="798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整合と同時に部品電流・損失・source VAを判定する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78B60-D53D-4F2B-BAC1-1495200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6ACE5-8DCC-4E4E-9517-13A9130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3 / 8  +  D3 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19D26-CDB8-4136-83A9-FDC518B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798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部品コーナーと基準面表現を入力契約として固定する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B147E-AD0A-45F8-B683-4DE2084E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B6BEB-4E12-47D2-9304-75B5F1C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PCDで判断する範囲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26C32-E27C-43DB-81CB-720B9B2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回路候補・運転窓・電気ストレス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E3C4D-9A4B-400E-A045-DA51F0DE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D9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715D0-0F51-4FFD-85A9-004C0ED0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480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装置実験で閉じる範囲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4D9D0-3CB5-4179-9EA7-BEE892B5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102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測定校正・熱寿命・プラズマ工程</a:t>
            </a:r>
          </a:p>
        </p:txBody>
      </p:sp>
    </p:spTree>
    <p:extLst>
      <p:ext uri="{BB962C8B-B14F-4D97-AF65-F5344CB8AC3E}">
        <p14:creationId xmlns:p14="http://schemas.microsoft.com/office/powerpoint/2010/main" val="761930190"/>
      </p:ext>
    </p:extLst>
  </p:cSld>
</p:sld>
</file>

<file path=ppt/theme/theme1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2026-09-28T00:20:03.3070000Z</dcterms:created>
  <dcterms:modified xsi:type="dcterms:W3CDTF">2026-09-28T00:20:03.3070000Z</dcterms:modified>
</coreProperties>
</file>