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ae071480b74fd7" /><Relationship Type="http://schemas.openxmlformats.org/officeDocument/2006/relationships/extended-properties" Target="/docProps/app.xml" Id="Rd0e9435cc29c4d26" /><Relationship Type="http://schemas.openxmlformats.org/officeDocument/2006/relationships/officeDocument" Target="/ppt/presentation.xml" Id="Rd1b2a61bb76943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eb634ff2d048ca"/>
  </p:sldMasterIdLst>
  <p:notesMasterIdLst>
    <p:notesMasterId xmlns:r="http://schemas.openxmlformats.org/officeDocument/2006/relationships" r:id="Rc895d6139e3d4bfc"/>
  </p:notesMasterIdLst>
  <p:sldIdLst>
    <p:sldId xmlns:r="http://schemas.openxmlformats.org/officeDocument/2006/relationships" id="256" r:id="R98af92e328384783"/>
    <p:sldId xmlns:r="http://schemas.openxmlformats.org/officeDocument/2006/relationships" id="257" r:id="Ra5b9de3de4974430"/>
    <p:sldId xmlns:r="http://schemas.openxmlformats.org/officeDocument/2006/relationships" id="258" r:id="R5a0fd225a30d40ec"/>
    <p:sldId xmlns:r="http://schemas.openxmlformats.org/officeDocument/2006/relationships" id="259" r:id="R49ef886e17744fdd"/>
    <p:sldId xmlns:r="http://schemas.openxmlformats.org/officeDocument/2006/relationships" id="260" r:id="Rd6a0d4ef76304ca8"/>
    <p:sldId xmlns:r="http://schemas.openxmlformats.org/officeDocument/2006/relationships" id="261" r:id="Rda88f20624b14d61"/>
    <p:sldId xmlns:r="http://schemas.openxmlformats.org/officeDocument/2006/relationships" id="262" r:id="Rb6756f23f40c44d1"/>
    <p:sldId xmlns:r="http://schemas.openxmlformats.org/officeDocument/2006/relationships" id="263" r:id="R21d205a89e3445b1"/>
    <p:sldId xmlns:r="http://schemas.openxmlformats.org/officeDocument/2006/relationships" id="264" r:id="Rc8810b66428944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94984fa2e84cdd" /><Relationship Type="http://schemas.openxmlformats.org/officeDocument/2006/relationships/slideMaster" Target="/ppt/slideMasters/slideMaster1.xml" Id="R14eb634ff2d048ca" /><Relationship Type="http://schemas.openxmlformats.org/officeDocument/2006/relationships/notesMaster" Target="/ppt/notesMasters/notesMaster1.xml" Id="Rc895d6139e3d4bfc" /><Relationship Type="http://schemas.openxmlformats.org/officeDocument/2006/relationships/presProps" Target="/ppt/presProps.xml" Id="Rb6c62914e3f343fb" /><Relationship Type="http://schemas.openxmlformats.org/officeDocument/2006/relationships/tableStyles" Target="/ppt/tableStyles.xml" Id="R9b653909ac284c5c" /><Relationship Type="http://schemas.openxmlformats.org/officeDocument/2006/relationships/slide" Target="/ppt/slides/slide1.xml" Id="R98af92e328384783" /><Relationship Type="http://schemas.openxmlformats.org/officeDocument/2006/relationships/slide" Target="/ppt/slides/slide2.xml" Id="Ra5b9de3de4974430" /><Relationship Type="http://schemas.openxmlformats.org/officeDocument/2006/relationships/slide" Target="/ppt/slides/slide3.xml" Id="R5a0fd225a30d40ec" /><Relationship Type="http://schemas.openxmlformats.org/officeDocument/2006/relationships/slide" Target="/ppt/slides/slide4.xml" Id="R49ef886e17744fdd" /><Relationship Type="http://schemas.openxmlformats.org/officeDocument/2006/relationships/slide" Target="/ppt/slides/slide5.xml" Id="Rd6a0d4ef76304ca8" /><Relationship Type="http://schemas.openxmlformats.org/officeDocument/2006/relationships/slide" Target="/ppt/slides/slide6.xml" Id="Rda88f20624b14d61" /><Relationship Type="http://schemas.openxmlformats.org/officeDocument/2006/relationships/slide" Target="/ppt/slides/slide7.xml" Id="Rb6756f23f40c44d1" /><Relationship Type="http://schemas.openxmlformats.org/officeDocument/2006/relationships/slide" Target="/ppt/slides/slide8.xml" Id="R21d205a89e3445b1" /><Relationship Type="http://schemas.openxmlformats.org/officeDocument/2006/relationships/slide" Target="/ppt/slides/slide9.xml" Id="Rc8810b66428944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ece52f78114e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CD Semiconductor Equipment Review">
      <a:dk1>
        <a:srgbClr val="000000"/>
      </a:dk1>
      <a:lt1>
        <a:srgbClr val="FFFFFF"/>
      </a:lt1>
      <a:dk2>
        <a:srgbClr val="21163F"/>
      </a:dk2>
      <a:lt2>
        <a:srgbClr val="F3F5F7"/>
      </a:lt2>
      <a:accent1>
        <a:srgbClr val="00A8D7"/>
      </a:accent1>
      <a:accent2>
        <a:srgbClr val="F36F21"/>
      </a:accent2>
      <a:accent3>
        <a:srgbClr val="74B72E"/>
      </a:accent3>
      <a:accent4>
        <a:srgbClr val="D13C58"/>
      </a:accent4>
      <a:accent5>
        <a:srgbClr val="1E3F73"/>
      </a:accent5>
      <a:accent6>
        <a:srgbClr val="7F2A9D"/>
      </a:accent6>
      <a:hlink>
        <a:srgbClr val="00A8D7"/>
      </a:hlink>
      <a:folHlink>
        <a:srgbClr val="F36F2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CD Semiconductor Equipment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994f9c905644c5" /><Relationship Type="http://schemas.openxmlformats.org/officeDocument/2006/relationships/notesMaster" Target="/ppt/notesMasters/notesMaster1.xml" Id="R331f8f5addc644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45a93dfc7d423f" /><Relationship Type="http://schemas.openxmlformats.org/officeDocument/2006/relationships/notesMaster" Target="/ppt/notesMasters/notesMaster1.xml" Id="R1547728d07ff40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941bd96928459b" /><Relationship Type="http://schemas.openxmlformats.org/officeDocument/2006/relationships/notesMaster" Target="/ppt/notesMasters/notesMaster1.xml" Id="R0f6b976199ea41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7986a465ca4390" /><Relationship Type="http://schemas.openxmlformats.org/officeDocument/2006/relationships/notesMaster" Target="/ppt/notesMasters/notesMaster1.xml" Id="R708a45159dee42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9db066d6ea4d5c" /><Relationship Type="http://schemas.openxmlformats.org/officeDocument/2006/relationships/notesMaster" Target="/ppt/notesMasters/notesMaster1.xml" Id="Ra3097f9aceb947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88234ac112401a" /><Relationship Type="http://schemas.openxmlformats.org/officeDocument/2006/relationships/notesMaster" Target="/ppt/notesMasters/notesMaster1.xml" Id="Rfde4ff2a72804e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ed537af1cd444e" /><Relationship Type="http://schemas.openxmlformats.org/officeDocument/2006/relationships/notesMaster" Target="/ppt/notesMasters/notesMaster1.xml" Id="Rf41d069e1e9b4c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d6964c7b6d4781" /><Relationship Type="http://schemas.openxmlformats.org/officeDocument/2006/relationships/notesMaster" Target="/ppt/notesMasters/notesMaster1.xml" Id="R5ebff5a216ea44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92be44a611428c" /><Relationship Type="http://schemas.openxmlformats.org/officeDocument/2006/relationships/notesMaster" Target="/ppt/notesMasters/notesMaster1.xml" Id="R6efe432735f549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runs/benchmark_suite/benchmark_result.json</a:t>
            </a:r>
          </a:p>
          <a:p xmlns:a="http://schemas.openxmlformats.org/drawingml/2006/main">
            <a:r>
              <a:t>- bench/figures/generated/figure_data.json</a:t>
            </a:r>
          </a:p>
          <a:p xmlns:a="http://schemas.openxmlformats.org/drawingml/2006/main">
            <a:r>
              <a:t>Design reference: PCD_RF_Circuit_Design_Engineering_Review_JA_v9_9slides.pptx.</a:t>
            </a:r>
          </a:p>
          <a:p xmlns:a="http://schemas.openxmlformats.org/drawingml/2006/main">
            <a:r>
              <a:t>Visual language follows the existing internal review deck. No Tokyo Electron logo or proprietary master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docs/rf-load-models.md</a:t>
            </a:r>
          </a:p>
          <a:p xmlns:a="http://schemas.openxmlformats.org/drawingml/2006/main">
            <a:r>
              <a:t>- docs/technical-specification-ja.md §§3, 4, 11</a:t>
            </a:r>
          </a:p>
          <a:p xmlns:a="http://schemas.openxmlformats.org/drawingml/2006/main">
            <a:r>
              <a:t>Reflection acceptance: |Gamma| &lt;= 0.31622776601683794, equivalent to reflected-power fraction &lt;= 0.10.</a:t>
            </a:r>
          </a:p>
          <a:p xmlns:a="http://schemas.openxmlformats.org/drawingml/2006/main">
            <a:r>
              <a:t>The plasma/chamber boundary is a declared electrical one-port at a named reference plane.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docs/technical-specification-ja.md §8.1</a:t>
            </a:r>
          </a:p>
          <a:p xmlns:a="http://schemas.openxmlformats.org/drawingml/2006/main">
            <a:r>
              <a:t>- pcd/case.py, pcd/plan.py, pcd/netlist.py, pcd/metrics.py, pcd/results/</a:t>
            </a:r>
          </a:p>
          <a:p xmlns:a="http://schemas.openxmlformats.org/drawingml/2006/main">
            <a:r>
              <a:t>The diagram shows the public numerical path and persisted evidence, not every Python import.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runs/benchmark_suite/benchmark_result.json</a:t>
            </a:r>
          </a:p>
          <a:p xmlns:a="http://schemas.openxmlformats.org/drawingml/2006/main">
            <a:r>
              <a:t>- bench/cases/match_fixed_nominal.yaml, match_limited_tuner.yaml, match_full_tuner.yaml</a:t>
            </a:r>
          </a:p>
          <a:p xmlns:a="http://schemas.openxmlformats.org/drawingml/2006/main">
            <a:r>
              <a:t>- bench/cases/icp_transformer_frequency_conformance.yaml</a:t>
            </a:r>
          </a:p>
          <a:p xmlns:a="http://schemas.openxmlformats.org/drawingml/2006/main">
            <a:r>
              <a:t>- bench/cases/match_high_drive_stress.yaml</a:t>
            </a:r>
          </a:p>
          <a:p xmlns:a="http://schemas.openxmlformats.org/drawingml/2006/main">
            <a:r>
              <a:t>- bench/cases/reference_plane_fixture_explicit.yaml, embedded.yaml, double_counted.yaml</a:t>
            </a:r>
          </a:p>
          <a:p xmlns:a="http://schemas.openxmlformats.org/drawingml/2006/main">
            <a:r>
              <a:t>Frozen suite: 16 cases, 19 candidates, 411 evaluations, 0 solver failures.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bench/figures/generated/figure_data.json control_cases.B1/B2/B3</a:t>
            </a:r>
          </a:p>
          <a:p xmlns:a="http://schemas.openxmlformats.org/drawingml/2006/main">
            <a:r>
              <a:t>- runs/benchmark_suite/benchmark_result.json</a:t>
            </a:r>
          </a:p>
          <a:p xmlns:a="http://schemas.openxmlformats.org/drawingml/2006/main">
            <a:r>
              <a:t>B1: feasible_fraction=0.2, worst |Gamma|=0.7672066486794401.</a:t>
            </a:r>
          </a:p>
          <a:p xmlns:a="http://schemas.openxmlformats.org/drawingml/2006/main">
            <a:r>
              <a:t>B2: feasible_fraction=0.4, worst |Gamma|=0.30200504425254665; three scenarios fail only min_control_margin.</a:t>
            </a:r>
          </a:p>
          <a:p xmlns:a="http://schemas.openxmlformats.org/drawingml/2006/main">
            <a:r>
              <a:t>B3: feasible_fraction=1, worst |Gamma|=0.038844448497050175, minimum control margin=0.23255813953488372.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bench/figures/generated/figure_data.json a5</a:t>
            </a:r>
          </a:p>
          <a:p xmlns:a="http://schemas.openxmlformats.org/drawingml/2006/main">
            <a:r>
              <a:t>- runs/benchmark_suite/benchmark_result.json A5_icp_transformer_frequency_conformance</a:t>
            </a:r>
          </a:p>
          <a:p xmlns:a="http://schemas.openxmlformats.org/drawingml/2006/main">
            <a:r>
              <a:t>Observed |Gamma| values at 10, 13.56 and 20 MHz: 0.9977743741208945, 4.787813681571927e-12, 0.999914993914838.</a:t>
            </a:r>
          </a:p>
          <a:p xmlns:a="http://schemas.openxmlformats.org/drawingml/2006/main">
            <a:r>
              <a:t>The three frequencies are independent scenarios. No continuous-band interpolation or plasma-state extrapolation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bench/figures/generated/figure_data.json b5</a:t>
            </a:r>
          </a:p>
          <a:p xmlns:a="http://schemas.openxmlformats.org/drawingml/2006/main">
            <a:r>
              <a:t>- bench/figures/generated/09-b5-port-waveforms.svg</a:t>
            </a:r>
          </a:p>
          <a:p xmlns:a="http://schemas.openxmlformats.org/drawingml/2006/main">
            <a:r>
              <a:t>- runs/benchmark_suite/benchmark_result.json B5_high_drive_stress</a:t>
            </a:r>
          </a:p>
          <a:p xmlns:a="http://schemas.openxmlformats.org/drawingml/2006/main">
            <a:r>
              <a:t>High-drive result: |Gamma|=0.011035382019418161; limit ratios=2.083876455159899, 4.342541080369787, 1.4232793495772509, 2.0128209592177053.</a:t>
            </a:r>
          </a:p>
          <a:p xmlns:a="http://schemas.openxmlformats.org/drawingml/2006/main">
            <a:r>
              <a:t>Waveforms are exact one-cycle reconstructions of archived 13.56 MHz AC peak phasors. They are not transient samples and do not establish ignition, settling, harmonics or waveform distortion.</a:t>
            </a:r>
          </a:p>
          <a:p xmlns:a="http://schemas.openxmlformats.org/drawingml/2006/main">
            <a:r>
              <a:t>Source apparent power is a terminal quantity, not forward generator power. ESR/DCR loss is not a thermal lifetime prediction.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bench/figures/generated/figure_data.json reference_plane</a:t>
            </a:r>
          </a:p>
          <a:p xmlns:a="http://schemas.openxmlformats.org/drawingml/2006/main">
            <a:r>
              <a:t>- bench/figures/generated/03-reference-plane-circuits.svg</a:t>
            </a:r>
          </a:p>
          <a:p xmlns:a="http://schemas.openxmlformats.org/drawingml/2006/main">
            <a:r>
              <a:t>- runs/benchmark_suite/benchmark_result.json D1-D3</a:t>
            </a:r>
          </a:p>
          <a:p xmlns:a="http://schemas.openxmlformats.org/drawingml/2006/main">
            <a:r>
              <a:t>Observed |Gamma|: D1=0.03829679687789924, D2=0.038296796877719114, D3=0.3418282828657569.</a:t>
            </a:r>
          </a:p>
          <a:p xmlns:a="http://schemas.openxmlformats.org/drawingml/2006/main">
            <a:r>
              <a:t>D1 and D2 represent the same synthetic lossy fixture once. D3 deliberately double counts it. This does not validate a general measured S-parameter de-embedding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bench/figures/generated/figure_data.json</a:t>
            </a:r>
          </a:p>
          <a:p xmlns:a="http://schemas.openxmlformats.org/drawingml/2006/main">
            <a:r>
              <a:t>- runs/benchmark_suite/benchmark_result.json</a:t>
            </a:r>
          </a:p>
          <a:p xmlns:a="http://schemas.openxmlformats.org/drawingml/2006/main">
            <a:r>
              <a:t>- docs/rf-load-models.md</a:t>
            </a:r>
          </a:p>
          <a:p xmlns:a="http://schemas.openxmlformats.org/drawingml/2006/main">
            <a:r>
              <a:t>Scope: PCD supports electrical circuit decisions within declared one-port models and limits. It does not qualify plasma chemistry, thermal lifetime, safety or process yield.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c4d8de2fbf42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1cf0c8832245fc" /><Relationship Type="http://schemas.openxmlformats.org/officeDocument/2006/relationships/slideLayout" Target="/ppt/slideLayouts/slideLayout1.xml" Id="Rae6f413ede8644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6f413ede8644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CD Semiconductor Equipment Review">
      <a:dk1>
        <a:srgbClr val="000000"/>
      </a:dk1>
      <a:lt1>
        <a:srgbClr val="FFFFFF"/>
      </a:lt1>
      <a:dk2>
        <a:srgbClr val="21163F"/>
      </a:dk2>
      <a:lt2>
        <a:srgbClr val="F3F5F7"/>
      </a:lt2>
      <a:accent1>
        <a:srgbClr val="00A8D7"/>
      </a:accent1>
      <a:accent2>
        <a:srgbClr val="F36F21"/>
      </a:accent2>
      <a:accent3>
        <a:srgbClr val="74B72E"/>
      </a:accent3>
      <a:accent4>
        <a:srgbClr val="D13C58"/>
      </a:accent4>
      <a:accent5>
        <a:srgbClr val="1E3F73"/>
      </a:accent5>
      <a:accent6>
        <a:srgbClr val="7F2A9D"/>
      </a:accent6>
      <a:hlink>
        <a:srgbClr val="00A8D7"/>
      </a:hlink>
      <a:folHlink>
        <a:srgbClr val="F36F2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CD Semiconductor Equipment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e6f270ff040f1" /><Relationship Type="http://schemas.openxmlformats.org/officeDocument/2006/relationships/notesSlide" Target="/ppt/notesSlides/notesSlide1.xml" Id="R4b94cff7f0cd4f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448429e0a467c" /><Relationship Type="http://schemas.openxmlformats.org/officeDocument/2006/relationships/notesSlide" Target="/ppt/notesSlides/notesSlide2.xml" Id="Rb8658f7c3eea44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91582e97f4f90" /><Relationship Type="http://schemas.openxmlformats.org/officeDocument/2006/relationships/notesSlide" Target="/ppt/notesSlides/notesSlide3.xml" Id="R39a83330a8c94c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adaac19c742fc" /><Relationship Type="http://schemas.openxmlformats.org/officeDocument/2006/relationships/notesSlide" Target="/ppt/notesSlides/notesSlide4.xml" Id="Ra71b2c6600574f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62bd0ec0f45b7" /><Relationship Type="http://schemas.openxmlformats.org/officeDocument/2006/relationships/chart" Target="/ppt/slides/charts/chart1.xml" Id="R6c7b5a3fe5ff49a6" /><Relationship Type="http://schemas.openxmlformats.org/officeDocument/2006/relationships/notesSlide" Target="/ppt/notesSlides/notesSlide5.xml" Id="R698647afda2146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c81021c564f0d" /><Relationship Type="http://schemas.openxmlformats.org/officeDocument/2006/relationships/chart" Target="/ppt/slides/charts/chart2.xml" Id="R771152ae50f3406a" /><Relationship Type="http://schemas.openxmlformats.org/officeDocument/2006/relationships/notesSlide" Target="/ppt/notesSlides/notesSlide6.xml" Id="R502e4e3271b04c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467edefc0436e" /><Relationship Type="http://schemas.openxmlformats.org/officeDocument/2006/relationships/chart" Target="/ppt/slides/charts/chart3.xml" Id="Rfdf03c3a87da4d48" /><Relationship Type="http://schemas.openxmlformats.org/officeDocument/2006/relationships/chart" Target="/ppt/slides/charts/chart4.xml" Id="R62944c187d8547d3" /><Relationship Type="http://schemas.openxmlformats.org/officeDocument/2006/relationships/chart" Target="/ppt/slides/charts/chart5.xml" Id="R5e2b4c033db84512" /><Relationship Type="http://schemas.openxmlformats.org/officeDocument/2006/relationships/notesSlide" Target="/ppt/notesSlides/notesSlide7.xml" Id="R4ea3b3ccc55d4a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f6e70545142d9" /><Relationship Type="http://schemas.openxmlformats.org/officeDocument/2006/relationships/chart" Target="/ppt/slides/charts/chart6.xml" Id="R141a4371fd764e0c" /><Relationship Type="http://schemas.openxmlformats.org/officeDocument/2006/relationships/notesSlide" Target="/ppt/notesSlides/notesSlide8.xml" Id="Rf87f1d86dae44d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9df4f2ad940ce" /><Relationship Type="http://schemas.openxmlformats.org/officeDocument/2006/relationships/notesSlide" Target="/ppt/notesSlides/notesSlide9.xml" Id="Rb1c1574ce2d240f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feasible fraction</c:v>
          </c:tx>
          <c:spPr>
            <a:solidFill xmlns:a="http://schemas.openxmlformats.org/drawingml/2006/main">
              <a:srgbClr val="00A8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36F21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4B72E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B1
固定</c:v>
                </c:pt>
                <c:pt idx="1">
                  <c:v>B2
限定</c:v>
                </c:pt>
                <c:pt idx="2">
                  <c:v>B3
全域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0.2</c:v>
                </c:pt>
                <c:pt idx="1">
                  <c:v>0.4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B2E33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C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8727D"/>
                    </a:solidFill>
                    <a:latin typeface="Yu Gothic"/>
                    <a:ea typeface="Yu Gothic"/>
                    <a:cs typeface="Yu Gothic"/>
                  </a:rPr>
                  <a:t>feasible fraction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8727D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DEE4"/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|Gamma|</c:v>
          </c:tx>
          <c:spPr>
            <a:solidFill xmlns:a="http://schemas.openxmlformats.org/drawingml/2006/main">
              <a:srgbClr val="00A8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4B72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10.00
MHz</c:v>
                </c:pt>
                <c:pt idx="1">
                  <c:v>13.56
MHz</c:v>
                </c:pt>
                <c:pt idx="2">
                  <c:v>20.00
MHz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0.997774374121</c:v>
                </c:pt>
                <c:pt idx="1">
                  <c:v>0</c:v>
                </c:pt>
                <c:pt idx="2">
                  <c:v>0.999914993915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2B2E33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C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8727D"/>
                    </a:solidFill>
                    <a:latin typeface="Yu Gothic"/>
                    <a:ea typeface="Yu Gothic"/>
                    <a:cs typeface="Yu Gothic"/>
                  </a:rPr>
                  <a:t>反射振幅 |Γ|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8727D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DEE4"/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source input</c:v>
          </c:tx>
          <c:spPr>
            <a:ln xmlns:a="http://schemas.openxmlformats.org/drawingml/2006/main" w="23813">
              <a:solidFill>
                <a:srgbClr val="2B2E33"/>
              </a:solidFill>
              <a:prstDash val="dash"/>
            </a:ln>
          </c:spPr>
          <c:marker>
            <c:symbol val="none"/>
            <c:size val="5"/>
          </c:marker>
          <c:cat>
            <c:numRef>
              <c:f>'Chart Data'!$A$2:$A$14</c:f>
              <c:numCache>
                <c:formatCode>General</c:formatCode>
                <c:ptCount val="13"/>
                <c:pt idx="0">
                  <c:v>0</c:v>
                </c:pt>
                <c:pt idx="1">
                  <c:v>30</c:v>
                </c:pt>
                <c:pt idx="2">
                  <c:v>60</c:v>
                </c:pt>
                <c:pt idx="3">
                  <c:v>90</c:v>
                </c:pt>
                <c:pt idx="4">
                  <c:v>120</c:v>
                </c:pt>
                <c:pt idx="5">
                  <c:v>150</c:v>
                </c:pt>
                <c:pt idx="6">
                  <c:v>180</c:v>
                </c:pt>
                <c:pt idx="7">
                  <c:v>210</c:v>
                </c:pt>
                <c:pt idx="8">
                  <c:v>240</c:v>
                </c:pt>
                <c:pt idx="9">
                  <c:v>270</c:v>
                </c:pt>
                <c:pt idx="10">
                  <c:v>300</c:v>
                </c:pt>
                <c:pt idx="11">
                  <c:v>330</c:v>
                </c:pt>
                <c:pt idx="12">
                  <c:v>360</c:v>
                </c:pt>
              </c:numCache>
            </c:numRef>
          </c:cat>
          <c:val>
            <c:numRef>
              <c:f>'Chart Data'!$B$2:$B$14</c:f>
              <c:numCache>
                <c:formatCode>0.0</c:formatCode>
                <c:ptCount val="13"/>
                <c:pt idx="0">
                  <c:v>100</c:v>
                </c:pt>
                <c:pt idx="1">
                  <c:v>86.6025403784</c:v>
                </c:pt>
                <c:pt idx="2">
                  <c:v>50</c:v>
                </c:pt>
                <c:pt idx="3">
                  <c:v>0</c:v>
                </c:pt>
                <c:pt idx="4">
                  <c:v>-50</c:v>
                </c:pt>
                <c:pt idx="5">
                  <c:v>-86.6025403784</c:v>
                </c:pt>
                <c:pt idx="6">
                  <c:v>-100</c:v>
                </c:pt>
                <c:pt idx="7">
                  <c:v>-86.6025403784</c:v>
                </c:pt>
                <c:pt idx="8">
                  <c:v>-50</c:v>
                </c:pt>
                <c:pt idx="9">
                  <c:v>0</c:v>
                </c:pt>
                <c:pt idx="10">
                  <c:v>50</c:v>
                </c:pt>
                <c:pt idx="11">
                  <c:v>86.6025403784</c:v>
                </c:pt>
                <c:pt idx="12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v>electrode terminal</c:v>
          </c:tx>
          <c:spPr>
            <a:ln xmlns:a="http://schemas.openxmlformats.org/drawingml/2006/main" w="30480">
              <a:solidFill>
                <a:srgbClr val="00A8D7"/>
              </a:solidFill>
              <a:prstDash val="solid"/>
            </a:ln>
          </c:spPr>
          <c:marker>
            <c:symbol val="none"/>
            <c:size val="5"/>
          </c:marker>
          <c:cat>
            <c:numRef>
              <c:f>'Chart Data'!$C$2:$C$14</c:f>
              <c:numCache>
                <c:formatCode>General</c:formatCode>
                <c:ptCount val="13"/>
                <c:pt idx="0">
                  <c:v>0</c:v>
                </c:pt>
                <c:pt idx="1">
                  <c:v>30</c:v>
                </c:pt>
                <c:pt idx="2">
                  <c:v>60</c:v>
                </c:pt>
                <c:pt idx="3">
                  <c:v>90</c:v>
                </c:pt>
                <c:pt idx="4">
                  <c:v>120</c:v>
                </c:pt>
                <c:pt idx="5">
                  <c:v>150</c:v>
                </c:pt>
                <c:pt idx="6">
                  <c:v>180</c:v>
                </c:pt>
                <c:pt idx="7">
                  <c:v>210</c:v>
                </c:pt>
                <c:pt idx="8">
                  <c:v>240</c:v>
                </c:pt>
                <c:pt idx="9">
                  <c:v>270</c:v>
                </c:pt>
                <c:pt idx="10">
                  <c:v>300</c:v>
                </c:pt>
                <c:pt idx="11">
                  <c:v>330</c:v>
                </c:pt>
                <c:pt idx="12">
                  <c:v>360</c:v>
                </c:pt>
              </c:numCache>
            </c:numRef>
          </c:cat>
          <c:val>
            <c:numRef>
              <c:f>'Chart Data'!$D$2:$D$14</c:f>
              <c:numCache>
                <c:formatCode>0.0</c:formatCode>
                <c:ptCount val="13"/>
                <c:pt idx="0">
                  <c:v>-121.094409806</c:v>
                </c:pt>
                <c:pt idx="1">
                  <c:v>-3.0151871578</c:v>
                </c:pt>
                <c:pt idx="2">
                  <c:v>115.871952454</c:v>
                </c:pt>
                <c:pt idx="3">
                  <c:v>203.71129598</c:v>
                </c:pt>
                <c:pt idx="4">
                  <c:v>236.96636226</c:v>
                </c:pt>
                <c:pt idx="5">
                  <c:v>206.726483138</c:v>
                </c:pt>
                <c:pt idx="6">
                  <c:v>121.094409806</c:v>
                </c:pt>
                <c:pt idx="7">
                  <c:v>3.0151871578</c:v>
                </c:pt>
                <c:pt idx="8">
                  <c:v>-115.871952454</c:v>
                </c:pt>
                <c:pt idx="9">
                  <c:v>-203.71129598</c:v>
                </c:pt>
                <c:pt idx="10">
                  <c:v>-236.96636226</c:v>
                </c:pt>
                <c:pt idx="11">
                  <c:v>-206.726483138</c:v>
                </c:pt>
                <c:pt idx="12">
                  <c:v>-121.094409806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Yu Gothic"/>
                  <a:ea typeface="Yu Gothic"/>
                  <a:cs typeface="Yu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260"/>
          <c:min val="-26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C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63">
                    <a:solidFill>
                      <a:srgbClr val="68727D"/>
                    </a:solidFill>
                    <a:latin typeface="Yu Gothic"/>
                    <a:ea typeface="Yu Gothic"/>
                    <a:cs typeface="Yu Gothic"/>
                  </a:rPr>
                  <a:t>瞬時電圧 [V]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63">
                  <a:solidFill>
                    <a:srgbClr val="68727D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13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DEE4"/>
          </a:solidFill>
          <a:prstDash val="solid"/>
        </a:ln>
      </c:spPr>
    </c:plotArea>
    <c:legend>
      <c:legendPos val="b"/>
      <c:overlay val="0"/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noFill/>
          <a:prstDash val="solid"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>
              <a:solidFill>
                <a:srgbClr val="2B2E33"/>
              </a:solidFill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source current</c:v>
          </c:tx>
          <c:spPr>
            <a:ln xmlns:a="http://schemas.openxmlformats.org/drawingml/2006/main" w="23813">
              <a:solidFill>
                <a:srgbClr val="2B2E33"/>
              </a:solidFill>
              <a:prstDash val="dash"/>
            </a:ln>
          </c:spPr>
          <c:marker>
            <c:symbol val="none"/>
            <c:size val="5"/>
          </c:marker>
          <c:cat>
            <c:numRef>
              <c:f>'Chart Data'!$A$2:$A$14</c:f>
              <c:numCache>
                <c:formatCode>General</c:formatCode>
                <c:ptCount val="13"/>
                <c:pt idx="0">
                  <c:v>0</c:v>
                </c:pt>
                <c:pt idx="1">
                  <c:v>30</c:v>
                </c:pt>
                <c:pt idx="2">
                  <c:v>60</c:v>
                </c:pt>
                <c:pt idx="3">
                  <c:v>90</c:v>
                </c:pt>
                <c:pt idx="4">
                  <c:v>120</c:v>
                </c:pt>
                <c:pt idx="5">
                  <c:v>150</c:v>
                </c:pt>
                <c:pt idx="6">
                  <c:v>180</c:v>
                </c:pt>
                <c:pt idx="7">
                  <c:v>210</c:v>
                </c:pt>
                <c:pt idx="8">
                  <c:v>240</c:v>
                </c:pt>
                <c:pt idx="9">
                  <c:v>270</c:v>
                </c:pt>
                <c:pt idx="10">
                  <c:v>300</c:v>
                </c:pt>
                <c:pt idx="11">
                  <c:v>330</c:v>
                </c:pt>
                <c:pt idx="12">
                  <c:v>360</c:v>
                </c:pt>
              </c:numCache>
            </c:numRef>
          </c:cat>
          <c:val>
            <c:numRef>
              <c:f>'Chart Data'!$B$2:$B$14</c:f>
              <c:numCache>
                <c:formatCode>0.0</c:formatCode>
                <c:ptCount val="13"/>
                <c:pt idx="0">
                  <c:v>2.01237186186</c:v>
                </c:pt>
                <c:pt idx="1">
                  <c:v>1.72150660628</c:v>
                </c:pt>
                <c:pt idx="2">
                  <c:v>0.969365045773</c:v>
                </c:pt>
                <c:pt idx="3">
                  <c:v>-0.0425170959168</c:v>
                </c:pt>
                <c:pt idx="4">
                  <c:v>-1.04300681609</c:v>
                </c:pt>
                <c:pt idx="5">
                  <c:v>-1.76402370219</c:v>
                </c:pt>
                <c:pt idx="6">
                  <c:v>-2.01237186186</c:v>
                </c:pt>
                <c:pt idx="7">
                  <c:v>-1.72150660628</c:v>
                </c:pt>
                <c:pt idx="8">
                  <c:v>-0.969365045773</c:v>
                </c:pt>
                <c:pt idx="9">
                  <c:v>0.0425170959168</c:v>
                </c:pt>
                <c:pt idx="10">
                  <c:v>1.04300681609</c:v>
                </c:pt>
                <c:pt idx="11">
                  <c:v>1.76402370219</c:v>
                </c:pt>
                <c:pt idx="12">
                  <c:v>2.01237186186</c:v>
                </c:pt>
              </c:numCache>
            </c:numRef>
          </c:val>
          <c:smooth val="0"/>
        </c:ser>
        <c:ser>
          <c:idx val="1"/>
          <c:order val="1"/>
          <c:tx>
            <c:v>load-port current</c:v>
          </c:tx>
          <c:spPr>
            <a:ln xmlns:a="http://schemas.openxmlformats.org/drawingml/2006/main" w="30480">
              <a:solidFill>
                <a:srgbClr val="00A8D7"/>
              </a:solidFill>
              <a:prstDash val="solid"/>
            </a:ln>
          </c:spPr>
          <c:marker>
            <c:symbol val="none"/>
            <c:size val="5"/>
          </c:marker>
          <c:cat>
            <c:numRef>
              <c:f>'Chart Data'!$C$2:$C$14</c:f>
              <c:numCache>
                <c:formatCode>General</c:formatCode>
                <c:ptCount val="13"/>
                <c:pt idx="0">
                  <c:v>0</c:v>
                </c:pt>
                <c:pt idx="1">
                  <c:v>30</c:v>
                </c:pt>
                <c:pt idx="2">
                  <c:v>60</c:v>
                </c:pt>
                <c:pt idx="3">
                  <c:v>90</c:v>
                </c:pt>
                <c:pt idx="4">
                  <c:v>120</c:v>
                </c:pt>
                <c:pt idx="5">
                  <c:v>150</c:v>
                </c:pt>
                <c:pt idx="6">
                  <c:v>180</c:v>
                </c:pt>
                <c:pt idx="7">
                  <c:v>210</c:v>
                </c:pt>
                <c:pt idx="8">
                  <c:v>240</c:v>
                </c:pt>
                <c:pt idx="9">
                  <c:v>270</c:v>
                </c:pt>
                <c:pt idx="10">
                  <c:v>300</c:v>
                </c:pt>
                <c:pt idx="11">
                  <c:v>330</c:v>
                </c:pt>
                <c:pt idx="12">
                  <c:v>360</c:v>
                </c:pt>
              </c:numCache>
            </c:numRef>
          </c:cat>
          <c:val>
            <c:numRef>
              <c:f>'Chart Data'!$D$2:$D$14</c:f>
              <c:numCache>
                <c:formatCode>0.0</c:formatCode>
                <c:ptCount val="13"/>
                <c:pt idx="0">
                  <c:v>1.87814815536</c:v>
                </c:pt>
                <c:pt idx="1">
                  <c:v>2.66682372028</c:v>
                </c:pt>
                <c:pt idx="2">
                  <c:v>2.740926023</c:v>
                </c:pt>
                <c:pt idx="3">
                  <c:v>2.08059941134</c:v>
                </c:pt>
                <c:pt idx="4">
                  <c:v>0.862777867637</c:v>
                </c:pt>
                <c:pt idx="5">
                  <c:v>-0.586224308944</c:v>
                </c:pt>
                <c:pt idx="6">
                  <c:v>-1.87814815536</c:v>
                </c:pt>
                <c:pt idx="7">
                  <c:v>-2.66682372028</c:v>
                </c:pt>
                <c:pt idx="8">
                  <c:v>-2.740926023</c:v>
                </c:pt>
                <c:pt idx="9">
                  <c:v>-2.08059941134</c:v>
                </c:pt>
                <c:pt idx="10">
                  <c:v>-0.862777867637</c:v>
                </c:pt>
                <c:pt idx="11">
                  <c:v>0.586224308944</c:v>
                </c:pt>
                <c:pt idx="12">
                  <c:v>1.87814815536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Yu Gothic"/>
                  <a:ea typeface="Yu Gothic"/>
                  <a:cs typeface="Yu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3.1"/>
          <c:min val="-3.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C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63">
                    <a:solidFill>
                      <a:srgbClr val="68727D"/>
                    </a:solidFill>
                    <a:latin typeface="Yu Gothic"/>
                    <a:ea typeface="Yu Gothic"/>
                    <a:cs typeface="Yu Gothic"/>
                  </a:rPr>
                  <a:t>瞬時電流 [A]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63">
                  <a:solidFill>
                    <a:srgbClr val="68727D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1.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DEE4"/>
          </a:solidFill>
          <a:prstDash val="solid"/>
        </a:ln>
      </c:spPr>
    </c:plotArea>
    <c:legend>
      <c:legendPos val="b"/>
      <c:overlay val="0"/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noFill/>
          <a:prstDash val="solid"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>
              <a:solidFill>
                <a:srgbClr val="2B2E33"/>
              </a:solidFill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F36F21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36F21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36F21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L1 電流</c:v>
                </c:pt>
                <c:pt idx="1">
                  <c:v>L1 損失</c:v>
                </c:pt>
                <c:pt idx="2">
                  <c:v>source 電流</c:v>
                </c:pt>
                <c:pt idx="3">
                  <c:v>source VA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2.08387645516</c:v>
                </c:pt>
                <c:pt idx="1">
                  <c:v>4.34254108037</c:v>
                </c:pt>
                <c:pt idx="2">
                  <c:v>1.42327934958</c:v>
                </c:pt>
                <c:pt idx="3">
                  <c:v>2.01282095922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38" b="1">
                  <a:solidFill>
                    <a:srgbClr val="2B2E33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CEF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DEE4"/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|Gamma|</c:v>
          </c:tx>
          <c:spPr>
            <a:solidFill xmlns:a="http://schemas.openxmlformats.org/drawingml/2006/main">
              <a:srgbClr val="00A8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4B72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4B72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13C5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D1
治具明示</c:v>
                </c:pt>
                <c:pt idx="1">
                  <c:v>D2
1回埋込</c:v>
                </c:pt>
                <c:pt idx="2">
                  <c:v>D3
二重計上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0.0382967968779</c:v>
                </c:pt>
                <c:pt idx="1">
                  <c:v>0.0382967968777</c:v>
                </c:pt>
                <c:pt idx="2">
                  <c:v>0.341828282866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38" b="1">
                  <a:solidFill>
                    <a:srgbClr val="2B2E33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</c:catAx>
      <c:valAx>
        <c:axId val="48672768"/>
        <c:scaling>
          <c:orientation val="minMax"/>
          <c:max val="0.4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C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8727D"/>
                    </a:solidFill>
                    <a:latin typeface="Yu Gothic"/>
                    <a:ea typeface="Yu Gothic"/>
                    <a:cs typeface="Yu Gothic"/>
                  </a:rPr>
                  <a:t>|Γ|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8727D"/>
                  </a:solidFill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EE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DEE4"/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16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D2E54-911E-4BFF-830A-3CD2C247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ENGINEERING REVIEW</a:t>
            </a:r>
          </a:p>
        </p:txBody>
      </p:sp>
      <p:sp>
        <p:nvSpPr>
          <p:cNvPr id="2" name="cover-title-v10">
            <a:extLst xmlns:a="http://schemas.openxmlformats.org/drawingml/2006/main">
              <a:ext uri="{FF2B5EF4-FFF2-40B4-BE49-F238E27FC236}">
                <a16:creationId xmlns:a16="http://schemas.microsoft.com/office/drawing/2014/main" id="{FE6AEE1F-FA9B-4CBA-ADE8-C1D6827C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096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4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PCD RF回路設計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4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回路課題と判定根拠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43A86-6758-4AC7-A66A-9E571CB2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E9EDF5"/>
                </a:solidFill>
                <a:latin typeface="Yu Gothic"/>
                <a:ea typeface="Yu Gothic"/>
                <a:cs typeface="Yu Gothic"/>
              </a:defRPr>
            </a:pPr>
            <a:r>
              <a:rPr sz="1875" b="0" i="0">
                <a:solidFill>
                  <a:srgbClr val="E9EDF5"/>
                </a:solidFill>
                <a:latin typeface="Yu Gothic"/>
                <a:ea typeface="Yu Gothic"/>
                <a:cs typeface="Yu Gothic"/>
              </a:rPr>
              <a:t>波形・合否境界・設計判断を9枚で確認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F4B58-299B-4E21-8ED7-FA3FE991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70"/>
          </a:solidFill>
          <a:ln xmlns:a="http://schemas.openxmlformats.org/drawingml/2006/main" w="0">
            <a:solidFill>
              <a:srgbClr val="163B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77FCB-4FE4-4343-ADA0-38A80642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D7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B4940-A19F-4EDE-9B6C-7ADEFCF3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2915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B72E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20D50-FAD4-47FA-B88A-3A05EDB8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8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70B13-1CB7-4F41-B6B2-1F77B598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 i="0">
                <a:solidFill>
                  <a:srgbClr val="B9CAE0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B9CAE0"/>
                </a:solidFill>
                <a:latin typeface="Yu Gothic"/>
                <a:ea typeface="Yu Gothic"/>
                <a:cs typeface="Yu Gothic"/>
              </a:rPr>
              <a:t>PCD 0.16.0　凍結ベンチマーク 2026-09-15　ngspice-46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2BC9B-F4C1-4FB8-8186-BFF7A25E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TECHNICAL DESIGN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F676C-D24E-40D2-919A-8E88AC43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34057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kicker-2">
            <a:extLst xmlns:a="http://schemas.openxmlformats.org/drawingml/2006/main">
              <a:ext uri="{FF2B5EF4-FFF2-40B4-BE49-F238E27FC236}">
                <a16:creationId xmlns:a16="http://schemas.microsoft.com/office/drawing/2014/main" id="{7392899F-617F-496E-81B2-61FC64EA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02  PROBLEM BACKGROUND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152E855-1AC8-48FB-B3D6-C32A501B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RF整合設計で見落としやすい4つの回路問題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36F1C-A18E-45A1-95F0-2DCA6E16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DB1BA-2761-4765-A3F6-D228CCCA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docs/rf-load-models.md / benchmark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6CC75-0699-4C93-8DD6-D3895EE7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F742E-5E81-4371-9F30-26D7712C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9DF4A-2F5D-448D-8E0A-EA40FF65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50 Ω整合は反射の条件。装置可否には負荷変動、調整余裕、電気ストレス、基準面が加わる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BD0E3-1F8F-430D-9F8A-E93FF31A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7907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3335">
            <a:solidFill>
              <a:srgbClr val="00A8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4EE2F-BE4B-44DD-B394-91FA6FE4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RF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DC9D2-B0EA-408A-97F7-8B96E296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20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Z₀ = 50 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1B466-8211-46A1-89E6-4F343A09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24050"/>
            <a:ext cx="226695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3335">
            <a:solidFill>
              <a:srgbClr val="F36F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60426-AE63-4653-8AEC-F51D43A7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288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Matching network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F8DB3-8C6A-4967-9C31-724702EC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193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275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C1 / L1 / C2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69E1D-2F7F-442E-BB37-51C8D661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20002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3335">
            <a:solidFill>
              <a:srgbClr val="1E3F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7B40F-7311-494A-96B1-B01ABF00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Fixture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B52C9-2D97-4C45-ABFA-9F3F86E0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cable / feedthrough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B1026-3AFB-4879-A787-BB2BB719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4050"/>
            <a:ext cx="234315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3335">
            <a:solidFill>
              <a:srgbClr val="74B7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D2B78-D516-453C-AAED-4A3FE916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288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Plasma one-port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0D058-17CC-4A3C-A419-1C8E5068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19350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68727D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68727D"/>
                </a:solidFill>
                <a:latin typeface="Cambria Math"/>
                <a:ea typeface="Cambria Math"/>
                <a:cs typeface="Cambria Math"/>
              </a:rPr>
              <a:t>ZL(f, condition)</a:t>
            </a:r>
          </a:p>
        </p:txBody>
      </p:sp>
      <p:cxnSp>
        <p:nvCxnSpPr>
          <p:cNvPr id="6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33650" y="247650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8D7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505450" y="2476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6F21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24850" y="2476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4B72E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862CE2-85CB-4D4B-97F6-0A59135F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76400"/>
            <a:ext cx="0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A8D7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0152D-89F0-48E9-84BC-6BCA4499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383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source plane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5EB65-7FBD-472F-A915-7EAE868D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0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A8D7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43B193-86FF-43E8-817B-0FAD97B1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383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electrode plane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674F31-6814-4853-89DD-EDE4C67C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76400"/>
            <a:ext cx="0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A8D7"/>
            </a:solidFill>
            <a:prstDash val="dash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4A59EB-46EB-4EC0-BEE8-E3BCF810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383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plasma plane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3115A6-6394-495B-BE80-9607FD34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B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F0CDAD-D2F0-443D-8CF3-542FBA64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① 負荷・周波数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375267-29C9-4F2B-8FEC-CEC4BC70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一点整合でも条件が変わると反射が増える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0E3730-3F1B-48C6-81E8-C85BB81D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|Γ| と周波数点を個別評価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581616-DBF7-41C3-888C-B69BEA95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481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708F00-57A3-44B1-95DF-EC40A369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② 調整余裕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E4D11A-FBE1-44E5-9F57-4A4ADB60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6245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可変素子が端に張り付くと追従余力がない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73CBBC-C6D6-442A-A162-1AD9ED3A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816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 i="0">
                <a:solidFill>
                  <a:srgbClr val="F36F21"/>
                </a:solidFill>
                <a:latin typeface="Cambria Math"/>
                <a:ea typeface="Cambria Math"/>
                <a:cs typeface="Cambria Math"/>
              </a:defRPr>
            </a:pPr>
            <a:r>
              <a:rPr sz="1013" b="1" i="0">
                <a:solidFill>
                  <a:srgbClr val="F36F21"/>
                </a:solidFill>
                <a:latin typeface="Cambria Math"/>
                <a:ea typeface="Cambria Math"/>
                <a:cs typeface="Cambria Math"/>
              </a:rPr>
              <a:t>control margin ≥ 0.20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39F6A4-5FC1-4343-82EE-CFBFBBE9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D13C5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5F5CF4-E054-41D8-B0B7-E3231CCF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③ 電気ストレス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9AD4B6-1B41-42AB-B8A0-F5A7E102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低反射でも部品電流・損失が定格を超える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0589FF-772F-4258-91B2-088C64DC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816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 i="0">
                <a:solidFill>
                  <a:srgbClr val="D13C58"/>
                </a:solidFill>
                <a:latin typeface="Cambria Math"/>
                <a:ea typeface="Cambria Math"/>
                <a:cs typeface="Cambria Math"/>
              </a:defRPr>
            </a:pPr>
            <a:r>
              <a:rPr sz="1013" b="1" i="0">
                <a:solidFill>
                  <a:srgbClr val="D13C58"/>
                </a:solidFill>
                <a:latin typeface="Cambria Math"/>
                <a:ea typeface="Cambria Math"/>
                <a:cs typeface="Cambria Math"/>
              </a:rPr>
              <a:t>actual / limit ≤ 1.0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24F372-54EE-4AE1-8A30-A85AF146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48100"/>
            <a:ext cx="2476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E5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814056-80A9-49AA-A6EC-EF5ACEB1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④ 基準面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2BF39D-CA4C-46D5-8C61-B3BD58E1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6245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治具の二重計上で入力インピーダンスが変わる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E69CC0-E341-45D5-B962-329E5800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816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fixture は一度だけ含める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BD1A65-A997-4F23-B2F9-CD309BF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829300"/>
            <a:ext cx="8305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Γ = (Zin − 50)/(Zin + 50)　　|Γ| ≤ √0.1 = 0.3162</a:t>
            </a:r>
          </a:p>
        </p:txBody>
      </p:sp>
    </p:spTree>
    <p:extLst>
      <p:ext uri="{BB962C8B-B14F-4D97-AF65-F5344CB8AC3E}">
        <p14:creationId xmlns:p14="http://schemas.microsoft.com/office/powerpoint/2010/main" val="1143946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kicker-3">
            <a:extLst xmlns:a="http://schemas.openxmlformats.org/drawingml/2006/main">
              <a:ext uri="{FF2B5EF4-FFF2-40B4-BE49-F238E27FC236}">
                <a16:creationId xmlns:a16="http://schemas.microsoft.com/office/drawing/2014/main" id="{E02B5BDD-871A-4973-9149-936D6F86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03  CODE PROCESSING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DD3DFBB-BA65-40D7-B3BE-32F2F814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入力から工学判定までの処理構成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C3858-AC89-433E-9482-7A4FF11B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CD261-9F54-4A80-BE21-50FC3C84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docs/architecture.md / public numerical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71786-0C39-4503-94CC-BEAE9FC7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DF102-EFC4-4870-99F5-4F2A1300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D667B-8CB8-47FD-9A7D-7DB80910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各評価の回路、計算結果、指標、合否を同じ Case から生成し、追跡可能な成果物として保存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2D4D1-9104-4A6A-80AC-5C9207D5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90500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3335">
            <a:solidFill>
              <a:srgbClr val="00A8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B6C54-B717-4F96-9A7D-480DFA58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BC4E8-24F0-4BF4-9446-2266C17E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9072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1B4A7-77A0-4EB4-9620-C5EE5EDF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676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回路候補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負荷シナリオ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可変範囲・制約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67BF5-A94E-4C86-B2CD-16FF3456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885950"/>
            <a:ext cx="190500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3335">
            <a:solidFill>
              <a:srgbClr val="00A8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3C092-6581-4B30-82F3-1698AE66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62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31613-227B-4B2C-B2AE-3504A678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9072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実行計画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D5FF4-3EF5-4C77-8440-E05900FE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676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Candidate × Scenario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× ControlState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BAA6F-FE40-4A02-8558-B4E05822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85950"/>
            <a:ext cx="190500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3335">
            <a:solidFill>
              <a:srgbClr val="F36F2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B4EA1-11C7-481B-BFC1-56BAB4FB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62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F885D-0EAB-4152-B208-A2302C4A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9072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回路計算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F3249-B277-4155-AA87-7C77BDF5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676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088" b="0" i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netlist.cir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68727D"/>
                </a:solidFill>
                <a:latin typeface="Consolas"/>
                <a:ea typeface="Consolas"/>
                <a:cs typeface="Consolas"/>
              </a:defRPr>
            </a:pPr>
            <a:r>
              <a:rPr sz="1088" b="0" i="0">
                <a:solidFill>
                  <a:srgbClr val="68727D"/>
                </a:solidFill>
                <a:latin typeface="Consolas"/>
                <a:ea typeface="Consolas"/>
                <a:cs typeface="Consolas"/>
              </a:rPr>
              <a:t>ngspice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F0BBFE-60C2-408D-9734-7570214C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885950"/>
            <a:ext cx="190500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3335">
            <a:solidFill>
              <a:srgbClr val="F36F2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DD63D-3516-4C63-A7BE-1860F51F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62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E6F8B-74F3-4C82-A7F2-ECACE49B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9072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指標抽出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B62B44-561F-4ED9-9F24-D8DAD7DA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1676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Γ・V・I・P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loss・margin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17533-2253-4B5E-8033-32463F8A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90500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3335">
            <a:solidFill>
              <a:srgbClr val="74B7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44FB82-7A73-490F-A67B-1DCA92D0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62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99A7E4-35E0-4848-B0F5-15F64349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9072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工学判定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DC5B94-ADA7-4614-A27F-F51D898D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1676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全制約の合否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feasibility-first</a:t>
            </a:r>
          </a:p>
        </p:txBody>
      </p:sp>
      <p:cxnSp>
        <p:nvCxnSpPr>
          <p:cNvPr id="7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457450" y="25622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8D7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791075" y="25622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8D7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124700" y="25622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6F21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458325" y="25622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6F21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4C63B2-9933-4A55-9C54-7C440817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評価ごとに保存する証拠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D9308F-0F32-4457-A50D-3EE8C211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A8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708BC5-38B4-4CEA-A1E3-F083065D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00A8D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0A8D7"/>
                </a:solidFill>
                <a:latin typeface="Consolas"/>
                <a:ea typeface="Consolas"/>
                <a:cs typeface="Consolas"/>
              </a:rPr>
              <a:t>netlist.cir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DF6436-8452-42C4-9F44-36D1DB25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実際に解いた接続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FE15C1-DFD8-45E6-8E80-B4C44FAF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576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36F2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DABD8C-C404-4710-8A6B-99CB30D2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36F21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F36F21"/>
                </a:solidFill>
                <a:latin typeface="Consolas"/>
                <a:ea typeface="Consolas"/>
                <a:cs typeface="Consolas"/>
              </a:rPr>
              <a:t>ac.csv / waveform.csv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8CC7C4-C940-4E4D-B4AD-4A9A27FF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148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複素応答・時間波形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70E42D-1B52-4ED8-A2DC-96F80CE6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3F7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D7607A-372D-486A-91EC-C12CA562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1E3F73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3F73"/>
                </a:solidFill>
                <a:latin typeface="Consolas"/>
                <a:ea typeface="Consolas"/>
                <a:cs typeface="Consolas"/>
              </a:rPr>
              <a:t>solver.log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C02B51-444C-4923-87D0-D9D04256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148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収束と実行状態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5D97C4-F48A-434E-BB9E-77C7F373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B72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E0D67E-ED50-4BBD-A7D8-2D674CB3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910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4B72E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74B72E"/>
                </a:solidFill>
                <a:latin typeface="Consolas"/>
                <a:ea typeface="Consolas"/>
                <a:cs typeface="Consolas"/>
              </a:rPr>
              <a:t>result.json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52302C-8820-4D45-BAB9-6A245503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148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指標・違反制約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B18B76-CE12-4488-A4AD-FFA5A735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14950"/>
            <a:ext cx="7239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Neval = Ncandidate × Σscenario Ncontrol(s)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BDBED5-CCAE-4FDC-80F8-BCCE44E3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43600"/>
            <a:ext cx="887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用途: 条件漏れの防止、再計算、機械学習用 evaluations.csv の生成</a:t>
            </a:r>
          </a:p>
        </p:txBody>
      </p:sp>
    </p:spTree>
    <p:extLst>
      <p:ext uri="{BB962C8B-B14F-4D97-AF65-F5344CB8AC3E}">
        <p14:creationId xmlns:p14="http://schemas.microsoft.com/office/powerpoint/2010/main" val="1903171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kicker-4">
            <a:extLst xmlns:a="http://schemas.openxmlformats.org/drawingml/2006/main">
              <a:ext uri="{FF2B5EF4-FFF2-40B4-BE49-F238E27FC236}">
                <a16:creationId xmlns:a16="http://schemas.microsoft.com/office/drawing/2014/main" id="{39DF75A4-13CD-4817-9394-1B2B1C1A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04  FROZEN BENCHMARK DESIGN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43083C0-06ED-4FB4-8360-7180C150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ベンチマークの問題設定と合否基準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60607-608A-430D-9484-70092C1F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C56AD-60AB-49C0-8210-EF764C85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runs/benchmark_suite/benchmark_result.json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FC3A7-BADD-415D-8A2D-42D128EB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57620-B234-4FFD-9EBD-95A07A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3B616-E2B7-4C5B-B5EA-F6289044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代表回路: 固定L1と可変C1/C2で、条件ごとの負荷を50 Ωへ整合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62599-7C45-4650-993F-BBEB46F0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8523"/>
            <a:ext cx="876681" cy="460629"/>
          </a:xfrm>
          <a:prstGeom xmlns:a="http://schemas.openxmlformats.org/drawingml/2006/main" prst="roundRect">
            <a:avLst>
              <a:gd name="adj" fmla="val 16543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4288">
            <a:solidFill>
              <a:srgbClr val="00A8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C1659-6AFC-4A38-BEA3-7DE1B9F9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" y="1957959"/>
            <a:ext cx="757809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78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878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RF source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878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878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Z₀ = 50 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93524-8F02-4C6D-84B6-72396D56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631" y="2128838"/>
            <a:ext cx="497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2E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0EEC1-3E73-4A0E-97AA-CBA0BDC4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408" y="2128838"/>
            <a:ext cx="10029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2E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77837-6FBE-4F0D-8A19-6F383BA1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390" y="1928241"/>
            <a:ext cx="891540" cy="401193"/>
          </a:xfrm>
          <a:prstGeom xmlns:a="http://schemas.openxmlformats.org/drawingml/2006/main" prst="roundRect">
            <a:avLst>
              <a:gd name="adj" fmla="val 16619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4288">
            <a:solidFill>
              <a:srgbClr val="F36F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C8E25-5C40-48C0-A8FC-90E86D72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826" y="2024824"/>
            <a:ext cx="772668" cy="208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6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936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L1 fixed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7E37F-089D-4C1C-BF48-B57F8738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2128838"/>
            <a:ext cx="4457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2E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EA59B-6EA5-44CF-BF04-0F1EBFDC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28838"/>
            <a:ext cx="6315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2E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0A926-76DA-44DA-A48A-A704C2D1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408" y="2128838"/>
            <a:ext cx="0" cy="2303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32AB4-44CC-46FE-9FE3-6837775A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965" y="2359152"/>
            <a:ext cx="2228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2E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96BA5-D6F4-4EBD-B718-D417D911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965" y="2426018"/>
            <a:ext cx="2228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2E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1A094-2188-49B3-A690-8A5DDE8A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408" y="2426018"/>
            <a:ext cx="0" cy="1857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27BD6-C376-453F-B98B-68125FEB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408" y="261175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D2CFD-CAAB-4213-9775-E90A6A89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583" y="274510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5E7D58-D81A-4CB2-8A36-A3970EAB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683" y="280225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199843-87C2-4DC0-BBE5-64B62827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783" y="285940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1F5383-9664-4788-9D15-633DAC46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349" y="1586484"/>
            <a:ext cx="936117" cy="19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19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819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C1 variable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937937-8253-4E29-B4E5-A547FC9D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28838"/>
            <a:ext cx="0" cy="2303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6E890B-9B72-427F-B12B-1BE67C4E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258" y="2359152"/>
            <a:ext cx="2228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2E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23E588-65B0-4E39-92CC-A931A6CC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258" y="2426018"/>
            <a:ext cx="2228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2E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D31F72-C5EC-4A70-A9E8-81075761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6018"/>
            <a:ext cx="0" cy="1857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5B8EA-5EEA-483F-B7FC-E44B2FB9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1175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3A4DB7-7AF6-44D1-9608-5AD70783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4510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7CF7FA-750F-4045-B7C1-CEFA1502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0225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3B29B4-9DBE-45A1-ACCB-769F85F7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5940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D565BC-7563-4CC8-9125-45B61032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42" y="1586484"/>
            <a:ext cx="936117" cy="19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19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819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C2 variable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B5D9BB-0F16-4BB8-981E-1F5F3370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208" y="1824228"/>
            <a:ext cx="1263015" cy="609219"/>
          </a:xfrm>
          <a:prstGeom xmlns:a="http://schemas.openxmlformats.org/drawingml/2006/main" prst="roundRect">
            <a:avLst>
              <a:gd name="adj" fmla="val 12508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4288">
            <a:solidFill>
              <a:srgbClr val="74B72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C0F0C-8101-4855-938D-77EF8608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644" y="1913382"/>
            <a:ext cx="1144143" cy="40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6" b="1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936" b="1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declared load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36" b="1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936" b="1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ZL = R + jX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39DA72-BF39-4487-8A05-80297E89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223" y="2128838"/>
            <a:ext cx="2228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D37358-E568-448A-B0F7-957F79BF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108" y="2128838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886C40-5C87-45EC-92B0-DC6AAE8C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283" y="2262188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321D63-997E-418B-A378-7A8A395A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383" y="2319338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A69948-3CE0-4877-AD70-A3773B9E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483" y="2376488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E3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81DA78-A78C-447F-B76D-8E722485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562100"/>
            <a:ext cx="0" cy="1743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0A8D7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E61AD1-8C2B-4E36-8764-F6E21992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43275"/>
            <a:ext cx="1790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declared reference plane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964117-C0A1-41EB-9AA1-79563186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1920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主要な合否基準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C00E6D-4818-423B-A76D-0E7F589A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09725"/>
            <a:ext cx="398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B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D78F54-F6AD-435D-84B6-90A0A899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335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反射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A7646B-098A-4079-A173-31229BAC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049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|Γ| ≤ 0.3162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92E647-153D-4B48-A922-7B519033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145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反射電力 ≤ 10%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CF550D-96E4-44AA-8002-068C1205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57425"/>
            <a:ext cx="398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BEAF10-3761-477F-A3C2-CF01E139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812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調整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ABB358-6BA6-49C2-8B2D-47E98056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52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margin ≥ 0.20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FC62B7-BA32-47C3-81B8-8A265930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622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86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可変域を20%以上残す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21A46B-CFB7-45B3-B6AE-951D49EB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98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D13C5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D96E09-164D-4D92-904A-95BD620A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28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ストレス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515305-1261-4149-8E6B-9F4E7279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actual / limit ≤ 1.0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4A8811-FC94-45EB-9FC7-8745EFB5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099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電流・損失・VA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9F5BA13-5ECA-4B8A-97C4-B18DF28E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52825"/>
            <a:ext cx="3981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E5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74F02E-134C-4801-9F5E-C9778FEC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基準面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00F8D0-7977-431B-B59C-2D9942F7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480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fixture = 1回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74F1A0-35EB-4E2A-8D7D-02F7F481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576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重複や欠落を排除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6C754D-93D3-4D2D-A0F9-87E89912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結果4枚で確認する試験軸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3DA84D-0CE3-461E-8EDC-C814CF23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A8D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2CA37E-935A-4B36-B9A4-A288AF9B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負荷窓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7C68D8E-E162-49C8-84B0-7D8187B0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5 conditions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C45EA2-3BF3-4193-9437-23C4BDE7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固定 / 限定 / 全域 tuner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646A3B9-E262-4A88-A8D3-5371F9DF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624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36F2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89139E-FFEE-4C35-8090-EE734303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243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周波数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3FCF75-DA2A-4777-81F9-9E0C088E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57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10 / 13.56 / 20 MHz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DA3FD43-1583-451A-A957-D4EAC621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19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独立3点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FD51D86-D7E5-4944-A771-3DAAF424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13C5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B96DB0-A80C-42A0-8E81-C26983A1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243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駆動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C382CF6-0779-463E-8812-28C16AD0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25 / 100 Vpk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10C6FA-05D6-415D-AD74-4FE169E6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波形と定格比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363B8C3-E7C3-4301-956C-B830C1F9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624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4B72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AF7A70-BBDB-40AA-BD5F-F9CFBDC9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243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基準面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15FAB9D-06A9-4320-8F4B-9627FC42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57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D1 / D2 / D3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13311BE-E252-41AF-8E44-988DC08C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19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05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fixture 1回 / 二重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B81B515-10FB-45FF-8543-EE37AD52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solidFill>
              <a:srgbClr val="D9DEE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60880D9-64D7-4388-89DB-87F9D88E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1163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21163F"/>
                </a:solidFill>
                <a:latin typeface="Cambria Math"/>
                <a:ea typeface="Cambria Math"/>
                <a:cs typeface="Cambria Math"/>
              </a:rPr>
              <a:t>16 cases　　19 candidates　　411 ngspice evaluations　　0 solver failures</a:t>
            </a:r>
          </a:p>
        </p:txBody>
      </p:sp>
    </p:spTree>
    <p:extLst>
      <p:ext uri="{BB962C8B-B14F-4D97-AF65-F5344CB8AC3E}">
        <p14:creationId xmlns:p14="http://schemas.microsoft.com/office/powerpoint/2010/main" val="895841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kicker-5">
            <a:extLst xmlns:a="http://schemas.openxmlformats.org/drawingml/2006/main">
              <a:ext uri="{FF2B5EF4-FFF2-40B4-BE49-F238E27FC236}">
                <a16:creationId xmlns:a16="http://schemas.microsoft.com/office/drawing/2014/main" id="{BE65AAA6-4F00-465C-9BBD-196F9F98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05  RESULTS 1/4  CONTROL AUTHORITY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E4987038-D5E5-48F0-A695-FBB82CD9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可変範囲が十分な調整器だけが5負荷条件を合格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9CBBB-BA59-4AD3-B691-2F7E153C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A1DEB-47F1-4801-8E05-9E8B035F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Frozen B1–B3 control-authority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E5224-315A-4214-B2FB-754B30E1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CEEEE-6C3A-485E-8CEC-070C228C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C2CDC-E2B8-4F6A-9A07-E26B0ED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緑は全制約合格。赤は反射超過。橙は整合できても20%の調整余裕を確保できない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A8120-CF5D-4828-A891-397AACA1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57350"/>
            <a:ext cx="107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高R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強容量性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C2C09-54C2-4D46-BC87-40E2B5E8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57350"/>
            <a:ext cx="107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基準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C36D7-D501-4A93-9083-CAD9B52E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107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低R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弱容量性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A7118-3B84-47C6-9B10-04F79504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657350"/>
            <a:ext cx="107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低R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基準X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A86A1-3E16-4350-8746-FD372D62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57350"/>
            <a:ext cx="107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高R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基準X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A0899-4140-4CAA-857B-2D571B77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B1 固定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0FC83-1CC9-4A56-9145-EE0959E2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C1/C2固定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52E61-2FA6-40EB-A149-BFDD9F40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1145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3335">
            <a:solidFill>
              <a:srgbClr val="D13C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E90B8-FAD1-4F0C-9AA2-9F50A101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86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反射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7F5B3-F9DC-43E4-90C9-D2D105A3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3335">
            <a:solidFill>
              <a:srgbClr val="74B7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23D58-AFB9-48C4-884A-2F414DA1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合格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46D23-E3C2-45AC-BB28-6932609F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145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3335">
            <a:solidFill>
              <a:srgbClr val="D13C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501B2-8BE4-4DE0-B2B3-0B1C59DC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86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反射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BF439-21E4-49CC-A073-8087AFA3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145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3335">
            <a:solidFill>
              <a:srgbClr val="D13C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6279B-4A39-464F-A706-60606541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86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反射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812E5B-807F-459F-8720-257BD842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145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3335">
            <a:solidFill>
              <a:srgbClr val="D13C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793CF2-3DC5-49D8-A635-7AED2242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286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反射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AC9CDE-52F0-43FC-B52B-CA727096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B2 限定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5B2246-7FFE-4614-B130-13A1317F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可変域が狭い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5C19F3-3A7C-4F6C-8977-8CDD8C86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908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3335">
            <a:solidFill>
              <a:srgbClr val="F36F2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88568D-B496-4CC5-B4C0-D397BC2C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1623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余裕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33F409-1DDD-4237-8D42-D919F865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908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3335">
            <a:solidFill>
              <a:srgbClr val="74B7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EA4BFF-1186-45EA-895A-EB9FB6F8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623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合格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0CE3D9-4118-4AFC-AD29-00C79F92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908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3335">
            <a:solidFill>
              <a:srgbClr val="F36F2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3F84D1-9BE3-442C-B81B-513325C8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1623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余裕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2B9605-8409-447D-A0E7-DF7344F8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908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3335">
            <a:solidFill>
              <a:srgbClr val="F36F2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6FE2FC-F20F-4EA8-A5F7-43D8692B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623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余裕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27D02C-7627-4229-B5AA-4436609F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908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3335">
            <a:solidFill>
              <a:srgbClr val="74B72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475FEA-604A-46FD-A255-05591AEB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623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合格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8D0772-4A6B-4060-80D3-0D4D7C28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B3 全域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53E8DB-80A8-4F56-A34C-2278B98E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余裕を含む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6A6F86-B8E5-4948-B762-7F72CC2B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671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3335">
            <a:solidFill>
              <a:srgbClr val="74B72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158526-C766-457F-BC7A-B649004A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0386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合格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D77FA2-8157-4201-B612-A0266249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671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3335">
            <a:solidFill>
              <a:srgbClr val="74B72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30C0F2-D004-41F4-9719-BC7DA605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386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合格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70F159-58EF-4B0A-B5F6-DDD8ECD7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671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3335">
            <a:solidFill>
              <a:srgbClr val="74B72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327AA0-5A69-4402-A67F-C71A56E4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386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合格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6BC622-DDD8-4F2E-AC8C-EEF835F3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671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3335">
            <a:solidFill>
              <a:srgbClr val="74B72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7D6168-28F1-46BE-B208-F1514AB0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386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合格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D74351-3BBC-4412-ABD2-B1D26910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67150"/>
            <a:ext cx="723900" cy="6096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3335">
            <a:solidFill>
              <a:srgbClr val="74B72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17511E-AE72-40EF-8CAA-C2482479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386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合格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409306-A7CB-4043-9322-64A9F7FA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764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6A0A7D-3336-4615-BD1A-EEF491CF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全制約を満たす負荷条件</a:t>
            </a:r>
          </a:p>
        </p:txBody>
      </p:sp>
      <p:graphicFrame>
        <p:nvGraphicFramePr>
          <p:cNvPr id="106" name="Chart"/>
          <p:cNvGraphicFramePr/>
          <p:nvPr/>
        </p:nvGraphicFramePr>
        <p:xfrm>
          <a:off xmlns:a="http://schemas.openxmlformats.org/drawingml/2006/main" x="8020050" y="2038350"/>
          <a:ext xmlns:a="http://schemas.openxmlformats.org/drawingml/2006/main" cx="3524250" cy="2990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7b5a3fe5ff49a6"/>
          </a:graphicData>
        </a:graphic>
      </p:graphicFrame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95147B-29B8-421F-81C6-18AEAF33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339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1" i="0">
                <a:solidFill>
                  <a:srgbClr val="68727D"/>
                </a:solidFill>
                <a:latin typeface="Cambria Math"/>
                <a:ea typeface="Cambria Math"/>
                <a:cs typeface="Cambria Math"/>
              </a:defRPr>
            </a:pPr>
            <a:r>
              <a:rPr sz="1013" b="1" i="0">
                <a:solidFill>
                  <a:srgbClr val="68727D"/>
                </a:solidFill>
                <a:latin typeface="Cambria Math"/>
                <a:ea typeface="Cambria Math"/>
                <a:cs typeface="Cambria Math"/>
              </a:rPr>
              <a:t>1/5　　　　2/5　　　　5/5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0AC16E-04DB-4CA4-8BF3-DD1AAAD5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E5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5C8F82-1CC8-46B8-A160-C7753F92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回路上の結論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CB8547-5EB2-44C3-B186-4ADF446B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10225"/>
            <a:ext cx="859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固定L1に対しC1/C2の可動範囲と残りストロークを仕様化すると、5条件すべてを合格にできる</a:t>
            </a:r>
          </a:p>
        </p:txBody>
      </p:sp>
    </p:spTree>
    <p:extLst>
      <p:ext uri="{BB962C8B-B14F-4D97-AF65-F5344CB8AC3E}">
        <p14:creationId xmlns:p14="http://schemas.microsoft.com/office/powerpoint/2010/main" val="8268157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6">
            <a:extLst xmlns:a="http://schemas.openxmlformats.org/drawingml/2006/main">
              <a:ext uri="{FF2B5EF4-FFF2-40B4-BE49-F238E27FC236}">
                <a16:creationId xmlns:a16="http://schemas.microsoft.com/office/drawing/2014/main" id="{77651882-0215-4D11-9030-EA756E1B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06  RESULTS 2/4  FREQUENCY CONFORMANCE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AB300E6-3708-4BE6-A682-44FD6BF2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13.56 MHzでの一点整合は10 MHzと20 MHzへ外挿できない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7E3AB-216E-4A96-A42E-9AA8214D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D46FC-44E8-4BAD-A022-599BDE14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Frozen A5 effective-ICP frequency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B27F9-C773-4905-86B2-4B4CBE24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FD7AB-6825-4C41-8BC2-BDE2B033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83911-B174-4FF3-A5D5-0BF2D7E0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95400"/>
            <a:ext cx="320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D13C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20C3A-75EC-48DC-8275-9942AD0C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00175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10.00 MHz　FAIL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A9BE3-A14D-40FD-9A54-7CE01B85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04975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013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Zin = 16.75 + j865.46 Ω　反射電力 99.6%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BBBF6-6098-45AF-90B6-BA5677F0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295400"/>
            <a:ext cx="320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E5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975C8-8A35-4959-AE6B-7ABB4A16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400175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13.56 MHz　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2EBE7-1FF9-4749-B069-22AF6F2C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04975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013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Zin = 50.00 + j0.00 Ω　反射電力 ≈0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34578-4AF6-435D-99DA-27E2FEA6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95400"/>
            <a:ext cx="320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D13C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E4CE8-6320-496D-B8DA-90C0D73E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00175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20.00 MHz　FAIL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1A9A7-69D9-4294-AA2D-205120C6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04975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13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013" b="0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Zin = 0.78 + j957.87 Ω　反射電力 100.0%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781050" y="2247900"/>
          <a:ext xmlns:a="http://schemas.openxmlformats.org/drawingml/2006/main" cx="10629900" cy="3295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1152ae50f3406a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8A5E5-3F87-4C07-9764-C6DAD383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91849"/>
            <a:ext cx="95916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6F21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80278-11EB-4DFE-8938-1A462D4F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63249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63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合格上限 0.3162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A3BA7-34DC-4753-BC2D-E67EAF05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3E5CF-872A-4ED4-82E2-A06DB5B7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4835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3点は独立したngspice結果。点間を線で結ばず、連続帯域やプラズマ状態の外挿を主張しない</a:t>
            </a:r>
          </a:p>
        </p:txBody>
      </p:sp>
    </p:spTree>
    <p:extLst>
      <p:ext uri="{BB962C8B-B14F-4D97-AF65-F5344CB8AC3E}">
        <p14:creationId xmlns:p14="http://schemas.microsoft.com/office/powerpoint/2010/main" val="6227341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7">
            <a:extLst xmlns:a="http://schemas.openxmlformats.org/drawingml/2006/main">
              <a:ext uri="{FF2B5EF4-FFF2-40B4-BE49-F238E27FC236}">
                <a16:creationId xmlns:a16="http://schemas.microsoft.com/office/drawing/2014/main" id="{0B512311-E334-4AB8-9906-C5AB22AE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07  RESULTS 3/4  WAVEFORM &amp; STRESS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03F9B66-3264-488E-A591-F7BCE9C4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100 Vpkでは整合を維持してもL1損失が定格の4.34倍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A1DE9-9D89-49FE-860A-A780EE6E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C86FF-AF23-493C-B25F-632B9E78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Frozen B5 high-drive AC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3E164-2EA1-413B-AA47-E0251D09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48C9D-0E66-490F-8EE4-A2B4B764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BCA5D-776D-490E-98DF-3439B880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619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13.56 MHz　100 Vpk　ACフェーザから1周期を再構成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ADFD3-E437-4BED-B8B6-051D0805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電圧波形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57200" y="1733550"/>
          <a:ext xmlns:a="http://schemas.openxmlformats.org/drawingml/2006/main" cx="6362700" cy="2047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f03c3a87da4d48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120C0-9852-4201-82B4-888C9F77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電流波形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457200" y="4048125"/>
          <a:ext xmlns:a="http://schemas.openxmlformats.org/drawingml/2006/main" cx="6362700" cy="2057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944c187d8547d3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92CCC-EBFC-4147-8CB2-13B12BC2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4267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74B72E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74B72E"/>
                </a:solidFill>
                <a:latin typeface="Cambria Math"/>
                <a:ea typeface="Cambria Math"/>
                <a:cs typeface="Cambria Math"/>
              </a:rPr>
              <a:t>整合 |Γ| = 0.0110　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64A91-F50E-47F5-9268-22C19759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426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100 Vpk時の定格使用率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7105650" y="2095500"/>
          <a:ext xmlns:a="http://schemas.openxmlformats.org/drawingml/2006/main" cx="4514850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2b4c033db84512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0A2C4-DD1E-4BF8-AAE6-5C0659D8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30" y="2286000"/>
            <a:ext cx="9525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6F21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DE24F-1D72-4856-9343-E2721CC0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155" y="20955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8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定格 =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75E74-589E-41AB-93E3-456A0CAA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10200"/>
            <a:ext cx="4267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D13C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F8273-C82F-401D-9DD7-B223680B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514975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4 / 4 制約がFAIL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57B1C-3A6F-4089-A69F-87BA1024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810250"/>
            <a:ext cx="392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7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8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低反射だけでは部品定格とsource容量を保証できない</a:t>
            </a:r>
          </a:p>
        </p:txBody>
      </p:sp>
    </p:spTree>
    <p:extLst>
      <p:ext uri="{BB962C8B-B14F-4D97-AF65-F5344CB8AC3E}">
        <p14:creationId xmlns:p14="http://schemas.microsoft.com/office/powerpoint/2010/main" val="13891014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kicker-8">
            <a:extLst xmlns:a="http://schemas.openxmlformats.org/drawingml/2006/main">
              <a:ext uri="{FF2B5EF4-FFF2-40B4-BE49-F238E27FC236}">
                <a16:creationId xmlns:a16="http://schemas.microsoft.com/office/drawing/2014/main" id="{A1B64BB3-3D22-42FF-9E55-D464BCAF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08  RESULTS 4/4  REFERENCE PLANE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EB4189E4-5E5C-4C0F-987A-3BB0C194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治具を二重計上すると入力インピーダンスと合否が反転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1C538-381B-4276-9FB8-7EFA216B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612A0-3DDE-497E-99FF-EFE51FC8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Frozen D1–D3 reference-plane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8F8AC-CAA6-4C1B-87BC-2D53204B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E383B-0B4B-4788-8AA0-F3C704D7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BE3CC-E44D-4A94-A9BC-764B0AF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同じ物理治具を一度だけ含むD1/D2は等価。D3は同じ治具を回路と負荷の双方へ入れた負例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2AC79-9FF1-4DE5-BF5F-F5206904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D1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4B23D-AB2A-4298-93A8-DD055B64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09750"/>
            <a:ext cx="18097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2383">
            <a:solidFill>
              <a:srgbClr val="00A8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6E938-61F8-48B5-AC5D-B3B479A6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240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Pi matcher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301A4-C5E7-4291-9299-EDB2915C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15049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383">
            <a:solidFill>
              <a:srgbClr val="1E3F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605EE-A78F-48ED-9193-A6E796D2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135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fixture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Rf + jωLf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0C717-9FA3-46AA-B838-942CCDF7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09750"/>
            <a:ext cx="15811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2383">
            <a:solidFill>
              <a:srgbClr val="74B7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144F3-D441-4BE9-92C0-9F931C48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plasma load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Zp</a:t>
            </a:r>
          </a:p>
        </p:txBody>
      </p: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00400" y="21431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2E33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029200" y="21431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2E33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73551-9363-446E-ADDE-4CA2622E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A8D7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3FC7D-F66E-44E5-B79E-6732E8E3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D2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EB181-E115-4B21-BF44-47DCFC86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95600"/>
            <a:ext cx="18097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2383">
            <a:solidFill>
              <a:srgbClr val="00A8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725933-E9A7-4B45-8353-A38C59BE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0990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Pi matcher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0CA29-EE6E-4F17-9702-4DE137B0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34099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F7E5"/>
          </a:solidFill>
          <a:ln xmlns:a="http://schemas.openxmlformats.org/drawingml/2006/main" w="12383">
            <a:solidFill>
              <a:srgbClr val="74B7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6BB237-131D-4AB5-809F-10D05E62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3257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embedded once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Ze = Zf + Zp</a:t>
            </a:r>
          </a:p>
        </p:txBody>
      </p:sp>
      <p:cxnSp>
        <p:nvCxnSpPr>
          <p:cNvPr id="66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00400" y="3228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2E33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B4588-6379-425A-9E26-574B74BD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A8D7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13D8F-0F21-4CBD-BEC4-0405DC3B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D3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425ED3-A703-423B-AAA9-278CCAFD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81450"/>
            <a:ext cx="18097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7FB"/>
          </a:solidFill>
          <a:ln xmlns:a="http://schemas.openxmlformats.org/drawingml/2006/main" w="12383">
            <a:solidFill>
              <a:srgbClr val="00A8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209337-BC4A-4B66-B266-C59950EA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Pi matcher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C6C9FA-5185-4504-8926-23A9ED67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81450"/>
            <a:ext cx="13144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2383">
            <a:solidFill>
              <a:srgbClr val="1E3F7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08E0DD-6370-483C-AC0C-AA78FFF9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9575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fixture Zf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C7F257-04A3-4842-A122-5DC84C53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81450"/>
            <a:ext cx="17716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20955">
            <a:solidFill>
              <a:srgbClr val="D13C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125E92-F2CB-4056-9ED7-D60934A9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D13C58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D13C58"/>
                </a:solidFill>
                <a:latin typeface="Cambria Math"/>
                <a:ea typeface="Cambria Math"/>
                <a:cs typeface="Cambria Math"/>
              </a:rPr>
              <a:t>Ze already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D13C58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D13C58"/>
                </a:solidFill>
                <a:latin typeface="Cambria Math"/>
                <a:ea typeface="Cambria Math"/>
                <a:cs typeface="Cambria Math"/>
              </a:rPr>
              <a:t>includes Zf</a:t>
            </a:r>
          </a:p>
        </p:txBody>
      </p:sp>
      <p:cxnSp>
        <p:nvCxnSpPr>
          <p:cNvPr id="75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3200400" y="43148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2E33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2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4838700" y="43148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13C58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70F649-40B0-4A5F-8CB2-B9867A1E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862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0A8D7"/>
            </a:solidFill>
            <a:prstDash val="dash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D17651-F5AC-4880-BBE9-524D94FD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7162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electrode plane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6F30BD-520B-484D-8C4F-9B7EEB2E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57350"/>
            <a:ext cx="377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1163F"/>
                </a:solidFill>
                <a:latin typeface="Yu Gothic"/>
                <a:ea typeface="Yu Gothic"/>
                <a:cs typeface="Yu Gothic"/>
              </a:rPr>
              <a:t>source planeでの反射振幅</a:t>
            </a:r>
          </a:p>
        </p:txBody>
      </p:sp>
      <p:graphicFrame>
        <p:nvGraphicFramePr>
          <p:cNvPr id="80" name="Chart"/>
          <p:cNvGraphicFramePr/>
          <p:nvPr/>
        </p:nvGraphicFramePr>
        <p:xfrm>
          <a:off xmlns:a="http://schemas.openxmlformats.org/drawingml/2006/main" x="7181850" y="1952625"/>
          <a:ext xmlns:a="http://schemas.openxmlformats.org/drawingml/2006/main" cx="434340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1a4371fd764e0c"/>
          </a:graphicData>
        </a:graphic>
      </p:graphicFrame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2B40D6-02F0-442C-95DA-068D1E17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93067"/>
            <a:ext cx="358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6F21"/>
            </a:solidFill>
            <a:prstDash val="dash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B38374-1E71-4AB6-8E45-6271E341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4467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合格上限 0.3162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FC9650-4122-4C9F-8954-4BFB417B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9590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4B72E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74B72E"/>
                </a:solidFill>
                <a:latin typeface="Cambria Math"/>
                <a:ea typeface="Cambria Math"/>
                <a:cs typeface="Cambria Math"/>
              </a:rPr>
              <a:t>D1 = D2　49.29 − j3.74 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2D048D-CFCD-4266-BA9C-C1C59E53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72125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D13C58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D13C58"/>
                </a:solidFill>
                <a:latin typeface="Cambria Math"/>
                <a:ea typeface="Cambria Math"/>
                <a:cs typeface="Cambria Math"/>
              </a:rPr>
              <a:t>D3　75.91 − j36.57 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39B850-5EE0-4A63-9E10-44AF4F38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EA775B-4198-4497-B680-73942EE0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9597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設計入力には測定基準面とde-embedding範囲を明記する。未記載の治具重複はコードだけでは推定できない</a:t>
            </a:r>
          </a:p>
        </p:txBody>
      </p:sp>
    </p:spTree>
    <p:extLst>
      <p:ext uri="{BB962C8B-B14F-4D97-AF65-F5344CB8AC3E}">
        <p14:creationId xmlns:p14="http://schemas.microsoft.com/office/powerpoint/2010/main" val="19067619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-9">
            <a:extLst xmlns:a="http://schemas.openxmlformats.org/drawingml/2006/main">
              <a:ext uri="{FF2B5EF4-FFF2-40B4-BE49-F238E27FC236}">
                <a16:creationId xmlns:a16="http://schemas.microsoft.com/office/drawing/2014/main" id="{A2595699-2619-4967-B24F-00F26722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09  ENGINEERING CONCLUSIONS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7266FD69-FF0B-4253-9D45-81232C3C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2250" b="0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第三者が確認できる設計判断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D0C48-D87E-4904-8AD9-1AB977E2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21D80-E007-48D8-AF1A-96F4E71D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690" b="0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Frozen benchmark evidence and scope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E743C-281C-4E61-8674-C6399EA5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3139C-BFFD-48D5-BCB2-15291A2F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788" b="0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FE8D1-91B5-450A-8258-C88BE0DB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回路上の問い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5EB88-460A-4963-8DB2-07254E46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238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観測結果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B575F-B28A-4755-AD06-4B45A847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238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1" i="0">
                <a:solidFill>
                  <a:srgbClr val="68727D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68727D"/>
                </a:solidFill>
                <a:latin typeface="Yu Gothic"/>
                <a:ea typeface="Yu Gothic"/>
                <a:cs typeface="Yu Gothic"/>
              </a:rPr>
              <a:t>設計判断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1C240-A6C3-40A7-B8AD-7EC9B380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B"/>
          </a:solidFill>
          <a:ln xmlns:a="http://schemas.openxmlformats.org/drawingml/2006/main" w="0">
            <a:solidFill>
              <a:srgbClr val="00A8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1A75A-068E-48B8-87F6-383C3F63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負荷変動と調整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922E9-3DCC-4181-A70D-F0914326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B1  1/5　→　B3  5/5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7C21D-BB48-4553-8286-BCE150F8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954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313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可変C1/C2の範囲と20%調整余裕を回路仕様に含める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39925-0B6C-40E3-807F-AA4462B7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7"/>
          </a:solidFill>
          <a:ln xmlns:a="http://schemas.openxmlformats.org/drawingml/2006/main" w="0">
            <a:solidFill>
              <a:srgbClr val="F36F2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C624B-A527-4EAA-99CA-8F481039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周波数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9FB49-888A-4F0E-A087-BE80BB95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13.56 MHzのみ合格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03843-E354-4A8A-B953-3008FFE7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313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一点整合を帯域性能として扱わず、周波数点を独立条件で評価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8440A-D843-42F3-B408-1ED3011A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D13C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59A42-4ED5-4151-859F-90324EC6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D13C5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D13C58"/>
                </a:solidFill>
                <a:latin typeface="Yu Gothic"/>
                <a:ea typeface="Yu Gothic"/>
                <a:cs typeface="Yu Gothic"/>
              </a:rPr>
              <a:t>駆動振幅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725B8-58CE-4058-9049-D8E28C18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052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|Γ|=0.011でも 4/4 stress超過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24927-E324-4933-9D07-65802450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313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整合と同時に部品電流・損失・source VAを判定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2CBE0-BACD-4920-BDAF-0B66404C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E5"/>
          </a:solidFill>
          <a:ln xmlns:a="http://schemas.openxmlformats.org/drawingml/2006/main" w="0">
            <a:solidFill>
              <a:srgbClr val="74B7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2DA08D-814E-4A66-99D8-5D72022A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4B72E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74B72E"/>
                </a:solidFill>
                <a:latin typeface="Yu Gothic"/>
                <a:ea typeface="Yu Gothic"/>
                <a:cs typeface="Yu Gothic"/>
              </a:rPr>
              <a:t>基準面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B726A6-5919-4CC1-A126-9E344D3D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2B2E33"/>
                </a:solidFill>
                <a:latin typeface="Cambria Math"/>
                <a:ea typeface="Cambria Math"/>
                <a:cs typeface="Cambria Math"/>
              </a:rPr>
              <a:t>D1=D2 合格　D3 不合格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DECF6-E68F-49DC-A878-F3E08B9C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313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治具を一度だけ含む測定面と入力契約を固定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73BDD8-B479-42E4-B91C-F3C40502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5219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63F"/>
          </a:solidFill>
          <a:ln xmlns:a="http://schemas.openxmlformats.org/drawingml/2006/main" w="0">
            <a:solidFill>
              <a:srgbClr val="21163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7983D2-A706-4A16-888B-67551AD2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00A8D7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00A8D7"/>
                </a:solidFill>
                <a:latin typeface="Yu Gothic"/>
                <a:ea typeface="Yu Gothic"/>
                <a:cs typeface="Yu Gothic"/>
              </a:rPr>
              <a:t>PCDが提供する有用性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B797D6-4ED8-4AC6-92CC-FF48F8D0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483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試作前に不成立条件を絞り込み、回路と判定根拠を再現可能に残す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90C98A-E4C3-400C-9064-E72A511E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91150"/>
            <a:ext cx="5219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solidFill>
              <a:srgbClr val="D9DE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2AEC6C-57A1-406B-A6D3-37015AEC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0545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F36F21"/>
                </a:solidFill>
                <a:latin typeface="Yu Gothic"/>
                <a:ea typeface="Yu Gothic"/>
                <a:cs typeface="Yu Gothic"/>
              </a:rPr>
              <a:t>装置実験で確認する範囲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3CEE34-5BA8-4053-80E7-28D5CCE4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81675"/>
            <a:ext cx="483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1" i="0">
                <a:solidFill>
                  <a:srgbClr val="2B2E33"/>
                </a:solidFill>
                <a:latin typeface="Yu Gothic"/>
                <a:ea typeface="Yu Gothic"/>
                <a:cs typeface="Yu Gothic"/>
              </a:defRPr>
            </a:pPr>
            <a:r>
              <a:rPr sz="1238" b="1" i="0">
                <a:solidFill>
                  <a:srgbClr val="2B2E33"/>
                </a:solidFill>
                <a:latin typeface="Yu Gothic"/>
                <a:ea typeface="Yu Gothic"/>
                <a:cs typeface="Yu Gothic"/>
              </a:rPr>
              <a:t>測定校正、熱寿命、非線形高調波、プラズマ工程、量産歩留まり</a:t>
            </a:r>
          </a:p>
        </p:txBody>
      </p:sp>
    </p:spTree>
    <p:extLst>
      <p:ext uri="{BB962C8B-B14F-4D97-AF65-F5344CB8AC3E}">
        <p14:creationId xmlns:p14="http://schemas.microsoft.com/office/powerpoint/2010/main" val="579625731"/>
      </p:ext>
    </p:extLst>
  </p:cSld>
</p:sld>
</file>

<file path=ppt/theme/theme1.xml><?xml version="1.0" encoding="utf-8"?>
<a:theme xmlns:a="http://schemas.openxmlformats.org/drawingml/2006/main" name="ChatGPT">
  <a:themeElements>
    <a:clrScheme name="PCD Semiconductor Equipment Review">
      <a:dk1>
        <a:srgbClr val="000000"/>
      </a:dk1>
      <a:lt1>
        <a:srgbClr val="FFFFFF"/>
      </a:lt1>
      <a:dk2>
        <a:srgbClr val="21163F"/>
      </a:dk2>
      <a:lt2>
        <a:srgbClr val="F3F5F7"/>
      </a:lt2>
      <a:accent1>
        <a:srgbClr val="00A8D7"/>
      </a:accent1>
      <a:accent2>
        <a:srgbClr val="F36F21"/>
      </a:accent2>
      <a:accent3>
        <a:srgbClr val="74B72E"/>
      </a:accent3>
      <a:accent4>
        <a:srgbClr val="D13C58"/>
      </a:accent4>
      <a:accent5>
        <a:srgbClr val="1E3F73"/>
      </a:accent5>
      <a:accent6>
        <a:srgbClr val="7F2A9D"/>
      </a:accent6>
      <a:hlink>
        <a:srgbClr val="00A8D7"/>
      </a:hlink>
      <a:folHlink>
        <a:srgbClr val="F36F21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CD Semiconductor Equipment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2026-09-28T01:22:59.0590000Z</dcterms:created>
  <dcterms:modified xsi:type="dcterms:W3CDTF">2026-09-28T01:22:59.0590000Z</dcterms:modified>
</coreProperties>
</file>