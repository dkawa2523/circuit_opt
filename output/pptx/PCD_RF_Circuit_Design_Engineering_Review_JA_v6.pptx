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061982b5f4cd7" /><Relationship Type="http://schemas.openxmlformats.org/officeDocument/2006/relationships/extended-properties" Target="/docProps/app.xml" Id="R739aa4b3d9034917" /><Relationship Type="http://schemas.openxmlformats.org/officeDocument/2006/relationships/officeDocument" Target="/ppt/presentation.xml" Id="Ra84da462de4c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9efacb5e304b5a"/>
  </p:sldMasterIdLst>
  <p:notesMasterIdLst>
    <p:notesMasterId xmlns:r="http://schemas.openxmlformats.org/officeDocument/2006/relationships" r:id="R147d1ea31ad34d3e"/>
  </p:notesMasterIdLst>
  <p:sldIdLst>
    <p:sldId xmlns:r="http://schemas.openxmlformats.org/officeDocument/2006/relationships" id="256" r:id="R716ee00dfd854611"/>
    <p:sldId xmlns:r="http://schemas.openxmlformats.org/officeDocument/2006/relationships" id="257" r:id="R19e7311d904543c8"/>
    <p:sldId xmlns:r="http://schemas.openxmlformats.org/officeDocument/2006/relationships" id="258" r:id="R5c335cdf78634262"/>
    <p:sldId xmlns:r="http://schemas.openxmlformats.org/officeDocument/2006/relationships" id="259" r:id="R76da4291d6494792"/>
    <p:sldId xmlns:r="http://schemas.openxmlformats.org/officeDocument/2006/relationships" id="260" r:id="Rcda7344e40cc4680"/>
    <p:sldId xmlns:r="http://schemas.openxmlformats.org/officeDocument/2006/relationships" id="261" r:id="Rb53dba52f9b74cfb"/>
    <p:sldId xmlns:r="http://schemas.openxmlformats.org/officeDocument/2006/relationships" id="262" r:id="Rd442685d46b64672"/>
    <p:sldId xmlns:r="http://schemas.openxmlformats.org/officeDocument/2006/relationships" id="263" r:id="R125d5af12ea74df3"/>
    <p:sldId xmlns:r="http://schemas.openxmlformats.org/officeDocument/2006/relationships" id="264" r:id="R5d88011e79104ca5"/>
    <p:sldId xmlns:r="http://schemas.openxmlformats.org/officeDocument/2006/relationships" id="265" r:id="Rc5734bde38044532"/>
    <p:sldId xmlns:r="http://schemas.openxmlformats.org/officeDocument/2006/relationships" id="266" r:id="Rc27b3cd670114a7a"/>
    <p:sldId xmlns:r="http://schemas.openxmlformats.org/officeDocument/2006/relationships" id="267" r:id="R3fc880762a304458"/>
    <p:sldId xmlns:r="http://schemas.openxmlformats.org/officeDocument/2006/relationships" id="268" r:id="Rd6ac2d96128346db"/>
    <p:sldId xmlns:r="http://schemas.openxmlformats.org/officeDocument/2006/relationships" id="269" r:id="R8bd6eb8d030e4fbf"/>
    <p:sldId xmlns:r="http://schemas.openxmlformats.org/officeDocument/2006/relationships" id="270" r:id="R89ea8f4f7c7d4549"/>
    <p:sldId xmlns:r="http://schemas.openxmlformats.org/officeDocument/2006/relationships" id="271" r:id="Rac3c47ee2005483d"/>
    <p:sldId xmlns:r="http://schemas.openxmlformats.org/officeDocument/2006/relationships" id="272" r:id="Rad81b422cd964395"/>
    <p:sldId xmlns:r="http://schemas.openxmlformats.org/officeDocument/2006/relationships" id="273" r:id="Rc5a21c80adb14175"/>
    <p:sldId xmlns:r="http://schemas.openxmlformats.org/officeDocument/2006/relationships" id="274" r:id="Ref8a5a1569184bbe"/>
    <p:sldId xmlns:r="http://schemas.openxmlformats.org/officeDocument/2006/relationships" id="275" r:id="R2b5e43835d9643ec"/>
    <p:sldId xmlns:r="http://schemas.openxmlformats.org/officeDocument/2006/relationships" id="276" r:id="Rb1e7c1cb5cfe4a86"/>
    <p:sldId xmlns:r="http://schemas.openxmlformats.org/officeDocument/2006/relationships" id="277" r:id="R72c5c1e7994a4e65"/>
    <p:sldId xmlns:r="http://schemas.openxmlformats.org/officeDocument/2006/relationships" id="278" r:id="R2e537483584440eb"/>
    <p:sldId xmlns:r="http://schemas.openxmlformats.org/officeDocument/2006/relationships" id="279" r:id="Rd664d7bfc6d34f3f"/>
    <p:sldId xmlns:r="http://schemas.openxmlformats.org/officeDocument/2006/relationships" id="280" r:id="Re36f0e51ff8940a4"/>
    <p:sldId xmlns:r="http://schemas.openxmlformats.org/officeDocument/2006/relationships" id="281" r:id="Rb0860787b3ee4fb3"/>
    <p:sldId xmlns:r="http://schemas.openxmlformats.org/officeDocument/2006/relationships" id="282" r:id="Rc8f9fe553c4b4067"/>
    <p:sldId xmlns:r="http://schemas.openxmlformats.org/officeDocument/2006/relationships" id="283" r:id="R7e5d7da5a06b4061"/>
    <p:sldId xmlns:r="http://schemas.openxmlformats.org/officeDocument/2006/relationships" id="284" r:id="R2bb20e9a52f242dd"/>
    <p:sldId xmlns:r="http://schemas.openxmlformats.org/officeDocument/2006/relationships" id="285" r:id="R7f2fef8f4e0c4468"/>
    <p:sldId xmlns:r="http://schemas.openxmlformats.org/officeDocument/2006/relationships" id="286" r:id="Ra1e43979a12e4a01"/>
    <p:sldId xmlns:r="http://schemas.openxmlformats.org/officeDocument/2006/relationships" id="287" r:id="R58897a07b6b446f9"/>
    <p:sldId xmlns:r="http://schemas.openxmlformats.org/officeDocument/2006/relationships" id="288" r:id="Ra227960da38f4778"/>
    <p:sldId xmlns:r="http://schemas.openxmlformats.org/officeDocument/2006/relationships" id="289" r:id="R2e67f53357e34b66"/>
    <p:sldId xmlns:r="http://schemas.openxmlformats.org/officeDocument/2006/relationships" id="290" r:id="Ref6d1e9d5ff646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c029a88064b91" /><Relationship Type="http://schemas.openxmlformats.org/officeDocument/2006/relationships/slideMaster" Target="/ppt/slideMasters/slideMaster1.xml" Id="Re09efacb5e304b5a" /><Relationship Type="http://schemas.openxmlformats.org/officeDocument/2006/relationships/notesMaster" Target="/ppt/notesMasters/notesMaster1.xml" Id="R147d1ea31ad34d3e" /><Relationship Type="http://schemas.openxmlformats.org/officeDocument/2006/relationships/presProps" Target="/ppt/presProps.xml" Id="Ra2255a61ed2a4ac6" /><Relationship Type="http://schemas.openxmlformats.org/officeDocument/2006/relationships/tableStyles" Target="/ppt/tableStyles.xml" Id="R5900afb4393c49c9" /><Relationship Type="http://schemas.openxmlformats.org/officeDocument/2006/relationships/slide" Target="/ppt/slides/slide1.xml" Id="R716ee00dfd854611" /><Relationship Type="http://schemas.openxmlformats.org/officeDocument/2006/relationships/slide" Target="/ppt/slides/slide2.xml" Id="R19e7311d904543c8" /><Relationship Type="http://schemas.openxmlformats.org/officeDocument/2006/relationships/slide" Target="/ppt/slides/slide3.xml" Id="R5c335cdf78634262" /><Relationship Type="http://schemas.openxmlformats.org/officeDocument/2006/relationships/slide" Target="/ppt/slides/slide4.xml" Id="R76da4291d6494792" /><Relationship Type="http://schemas.openxmlformats.org/officeDocument/2006/relationships/slide" Target="/ppt/slides/slide5.xml" Id="Rcda7344e40cc4680" /><Relationship Type="http://schemas.openxmlformats.org/officeDocument/2006/relationships/slide" Target="/ppt/slides/slide6.xml" Id="Rb53dba52f9b74cfb" /><Relationship Type="http://schemas.openxmlformats.org/officeDocument/2006/relationships/slide" Target="/ppt/slides/slide7.xml" Id="Rd442685d46b64672" /><Relationship Type="http://schemas.openxmlformats.org/officeDocument/2006/relationships/slide" Target="/ppt/slides/slide8.xml" Id="R125d5af12ea74df3" /><Relationship Type="http://schemas.openxmlformats.org/officeDocument/2006/relationships/slide" Target="/ppt/slides/slide9.xml" Id="R5d88011e79104ca5" /><Relationship Type="http://schemas.openxmlformats.org/officeDocument/2006/relationships/slide" Target="/ppt/slides/slide10.xml" Id="Rc5734bde38044532" /><Relationship Type="http://schemas.openxmlformats.org/officeDocument/2006/relationships/slide" Target="/ppt/slides/slide11.xml" Id="Rc27b3cd670114a7a" /><Relationship Type="http://schemas.openxmlformats.org/officeDocument/2006/relationships/slide" Target="/ppt/slides/slide12.xml" Id="R3fc880762a304458" /><Relationship Type="http://schemas.openxmlformats.org/officeDocument/2006/relationships/slide" Target="/ppt/slides/slide13.xml" Id="Rd6ac2d96128346db" /><Relationship Type="http://schemas.openxmlformats.org/officeDocument/2006/relationships/slide" Target="/ppt/slides/slide14.xml" Id="R8bd6eb8d030e4fbf" /><Relationship Type="http://schemas.openxmlformats.org/officeDocument/2006/relationships/slide" Target="/ppt/slides/slide15.xml" Id="R89ea8f4f7c7d4549" /><Relationship Type="http://schemas.openxmlformats.org/officeDocument/2006/relationships/slide" Target="/ppt/slides/slide16.xml" Id="Rac3c47ee2005483d" /><Relationship Type="http://schemas.openxmlformats.org/officeDocument/2006/relationships/slide" Target="/ppt/slides/slide17.xml" Id="Rad81b422cd964395" /><Relationship Type="http://schemas.openxmlformats.org/officeDocument/2006/relationships/slide" Target="/ppt/slides/slide18.xml" Id="Rc5a21c80adb14175" /><Relationship Type="http://schemas.openxmlformats.org/officeDocument/2006/relationships/slide" Target="/ppt/slides/slide19.xml" Id="Ref8a5a1569184bbe" /><Relationship Type="http://schemas.openxmlformats.org/officeDocument/2006/relationships/slide" Target="/ppt/slides/slide20.xml" Id="R2b5e43835d9643ec" /><Relationship Type="http://schemas.openxmlformats.org/officeDocument/2006/relationships/slide" Target="/ppt/slides/slide21.xml" Id="Rb1e7c1cb5cfe4a86" /><Relationship Type="http://schemas.openxmlformats.org/officeDocument/2006/relationships/slide" Target="/ppt/slides/slide22.xml" Id="R72c5c1e7994a4e65" /><Relationship Type="http://schemas.openxmlformats.org/officeDocument/2006/relationships/slide" Target="/ppt/slides/slide23.xml" Id="R2e537483584440eb" /><Relationship Type="http://schemas.openxmlformats.org/officeDocument/2006/relationships/slide" Target="/ppt/slides/slide24.xml" Id="Rd664d7bfc6d34f3f" /><Relationship Type="http://schemas.openxmlformats.org/officeDocument/2006/relationships/slide" Target="/ppt/slides/slide25.xml" Id="Re36f0e51ff8940a4" /><Relationship Type="http://schemas.openxmlformats.org/officeDocument/2006/relationships/slide" Target="/ppt/slides/slide26.xml" Id="Rb0860787b3ee4fb3" /><Relationship Type="http://schemas.openxmlformats.org/officeDocument/2006/relationships/slide" Target="/ppt/slides/slide27.xml" Id="Rc8f9fe553c4b4067" /><Relationship Type="http://schemas.openxmlformats.org/officeDocument/2006/relationships/slide" Target="/ppt/slides/slide28.xml" Id="R7e5d7da5a06b4061" /><Relationship Type="http://schemas.openxmlformats.org/officeDocument/2006/relationships/slide" Target="/ppt/slides/slide29.xml" Id="R2bb20e9a52f242dd" /><Relationship Type="http://schemas.openxmlformats.org/officeDocument/2006/relationships/slide" Target="/ppt/slides/slide30.xml" Id="R7f2fef8f4e0c4468" /><Relationship Type="http://schemas.openxmlformats.org/officeDocument/2006/relationships/slide" Target="/ppt/slides/slide31.xml" Id="Ra1e43979a12e4a01" /><Relationship Type="http://schemas.openxmlformats.org/officeDocument/2006/relationships/slide" Target="/ppt/slides/slide32.xml" Id="R58897a07b6b446f9" /><Relationship Type="http://schemas.openxmlformats.org/officeDocument/2006/relationships/slide" Target="/ppt/slides/slide33.xml" Id="Ra227960da38f4778" /><Relationship Type="http://schemas.openxmlformats.org/officeDocument/2006/relationships/slide" Target="/ppt/slides/slide34.xml" Id="R2e67f53357e34b66" /><Relationship Type="http://schemas.openxmlformats.org/officeDocument/2006/relationships/slide" Target="/ppt/slides/slide35.xml" Id="Ref6d1e9d5ff646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c96b2b5e31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53cea83cc4bef" /><Relationship Type="http://schemas.openxmlformats.org/officeDocument/2006/relationships/notesMaster" Target="/ppt/notesMasters/notesMaster1.xml" Id="Rcdb0dbbc8726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8b41a171754ed1" /><Relationship Type="http://schemas.openxmlformats.org/officeDocument/2006/relationships/notesMaster" Target="/ppt/notesMasters/notesMaster1.xml" Id="Rc9afb524e5c54e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cb017ee0a840c0" /><Relationship Type="http://schemas.openxmlformats.org/officeDocument/2006/relationships/notesMaster" Target="/ppt/notesMasters/notesMaster1.xml" Id="Re11b7f53003245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36792990b64923" /><Relationship Type="http://schemas.openxmlformats.org/officeDocument/2006/relationships/notesMaster" Target="/ppt/notesMasters/notesMaster1.xml" Id="Rd0b9a1de1edb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b189b397544f18" /><Relationship Type="http://schemas.openxmlformats.org/officeDocument/2006/relationships/notesMaster" Target="/ppt/notesMasters/notesMaster1.xml" Id="Rd97ea224cccc45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2a3d6e7f4d48e7" /><Relationship Type="http://schemas.openxmlformats.org/officeDocument/2006/relationships/notesMaster" Target="/ppt/notesMasters/notesMaster1.xml" Id="R4eb70cd1914f44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a30b8d0ae847dd" /><Relationship Type="http://schemas.openxmlformats.org/officeDocument/2006/relationships/notesMaster" Target="/ppt/notesMasters/notesMaster1.xml" Id="R125e866eb78c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ce50e57e104bcd" /><Relationship Type="http://schemas.openxmlformats.org/officeDocument/2006/relationships/notesMaster" Target="/ppt/notesMasters/notesMaster1.xml" Id="R7691e196c558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c2cc17c7b4be6" /><Relationship Type="http://schemas.openxmlformats.org/officeDocument/2006/relationships/notesMaster" Target="/ppt/notesMasters/notesMaster1.xml" Id="Rf3fe45f17013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265509ea764e75" /><Relationship Type="http://schemas.openxmlformats.org/officeDocument/2006/relationships/notesMaster" Target="/ppt/notesMasters/notesMaster1.xml" Id="R4e671c63218949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3d3b289fca4ecf" /><Relationship Type="http://schemas.openxmlformats.org/officeDocument/2006/relationships/notesMaster" Target="/ppt/notesMasters/notesMaster1.xml" Id="Rf854fafad36b48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a3f36ead3e452e" /><Relationship Type="http://schemas.openxmlformats.org/officeDocument/2006/relationships/notesMaster" Target="/ppt/notesMasters/notesMaster1.xml" Id="Rd870cca4498549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f15b9dc3c94a11" /><Relationship Type="http://schemas.openxmlformats.org/officeDocument/2006/relationships/notesMaster" Target="/ppt/notesMasters/notesMaster1.xml" Id="Rf0817b2a4f194b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0a71308cd94101" /><Relationship Type="http://schemas.openxmlformats.org/officeDocument/2006/relationships/notesMaster" Target="/ppt/notesMasters/notesMaster1.xml" Id="R2f3716b30c264b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b664088aa3401b" /><Relationship Type="http://schemas.openxmlformats.org/officeDocument/2006/relationships/notesMaster" Target="/ppt/notesMasters/notesMaster1.xml" Id="R252f1c10728d4a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4be9584fe464d" /><Relationship Type="http://schemas.openxmlformats.org/officeDocument/2006/relationships/notesMaster" Target="/ppt/notesMasters/notesMaster1.xml" Id="R1f19c35081a54c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a34d9806404665" /><Relationship Type="http://schemas.openxmlformats.org/officeDocument/2006/relationships/notesMaster" Target="/ppt/notesMasters/notesMaster1.xml" Id="R44198eef55da4f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f74af37143488a" /><Relationship Type="http://schemas.openxmlformats.org/officeDocument/2006/relationships/notesMaster" Target="/ppt/notesMasters/notesMaster1.xml" Id="Rf0ac5cdd82fc47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aa6e0eaa0c44e5" /><Relationship Type="http://schemas.openxmlformats.org/officeDocument/2006/relationships/notesMaster" Target="/ppt/notesMasters/notesMaster1.xml" Id="R681c34ff1c124a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0ac09b765943ea" /><Relationship Type="http://schemas.openxmlformats.org/officeDocument/2006/relationships/notesMaster" Target="/ppt/notesMasters/notesMaster1.xml" Id="R91c05b9345d940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2d518555164a12" /><Relationship Type="http://schemas.openxmlformats.org/officeDocument/2006/relationships/notesMaster" Target="/ppt/notesMasters/notesMaster1.xml" Id="R6de09f1cd54f4f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d28a6bab724203" /><Relationship Type="http://schemas.openxmlformats.org/officeDocument/2006/relationships/notesMaster" Target="/ppt/notesMasters/notesMaster1.xml" Id="R87bd5cfad2e145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3f4312247044f8" /><Relationship Type="http://schemas.openxmlformats.org/officeDocument/2006/relationships/notesMaster" Target="/ppt/notesMasters/notesMaster1.xml" Id="Rd7272948377943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63328e954948fc" /><Relationship Type="http://schemas.openxmlformats.org/officeDocument/2006/relationships/notesMaster" Target="/ppt/notesMasters/notesMaster1.xml" Id="R97e7fd05ac594d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e02225b1684b8c" /><Relationship Type="http://schemas.openxmlformats.org/officeDocument/2006/relationships/notesMaster" Target="/ppt/notesMasters/notesMaster1.xml" Id="R3e260165a7f64f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85188cba054eb3" /><Relationship Type="http://schemas.openxmlformats.org/officeDocument/2006/relationships/notesMaster" Target="/ppt/notesMasters/notesMaster1.xml" Id="Rba2703a3c9244e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41c6a3d3db44ed" /><Relationship Type="http://schemas.openxmlformats.org/officeDocument/2006/relationships/notesMaster" Target="/ppt/notesMasters/notesMaster1.xml" Id="R970000be216b43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4c6fe11d0d4bb8" /><Relationship Type="http://schemas.openxmlformats.org/officeDocument/2006/relationships/notesMaster" Target="/ppt/notesMasters/notesMaster1.xml" Id="Rdda18076c793464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fd5e20edf44584" /><Relationship Type="http://schemas.openxmlformats.org/officeDocument/2006/relationships/notesMaster" Target="/ppt/notesMasters/notesMaster1.xml" Id="Rc016c33bfb254f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5c7f91597b4c3e" /><Relationship Type="http://schemas.openxmlformats.org/officeDocument/2006/relationships/notesMaster" Target="/ppt/notesMasters/notesMaster1.xml" Id="R7ea4e1447b7d407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0ee0980c6dc42dd" /><Relationship Type="http://schemas.openxmlformats.org/officeDocument/2006/relationships/notesMaster" Target="/ppt/notesMasters/notesMaster1.xml" Id="Rb64d9f947984439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cf0bbb19dda4655" /><Relationship Type="http://schemas.openxmlformats.org/officeDocument/2006/relationships/notesMaster" Target="/ppt/notesMasters/notesMaster1.xml" Id="R96a8e92672f54b8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b73b9c5a36f4c56" /><Relationship Type="http://schemas.openxmlformats.org/officeDocument/2006/relationships/notesMaster" Target="/ppt/notesMasters/notesMaster1.xml" Id="Rd9d84adf73ff466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f0ad7fc8c674f91" /><Relationship Type="http://schemas.openxmlformats.org/officeDocument/2006/relationships/notesMaster" Target="/ppt/notesMasters/notesMaster1.xml" Id="R23c2714eee914f4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c819e9a1194c45" /><Relationship Type="http://schemas.openxmlformats.org/officeDocument/2006/relationships/notesMaster" Target="/ppt/notesMasters/notesMaster1.xml" Id="Rc43432c5e51b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(title, §§1–3)</a:t>
            </a:r>
          </a:p>
          <a:p xmlns:a="http://schemas.openxmlformats.org/drawingml/2006/main">
            <a:r>
              <a:t>- runs/benchmark_suite/benchmark_result.json (platform_version, solver, generated_at)</a:t>
            </a:r>
          </a:p>
          <a:p xmlns:a="http://schemas.openxmlformats.org/drawingml/2006/main">
            <a:r>
              <a:t>Design reference:</a:t>
            </a:r>
          </a:p>
          <a:p xmlns:a="http://schemas.openxmlformats.org/drawingml/2006/main">
            <a:r>
              <a:t>- Tokyo Electron IR Day, February 26, 2025, public PDF: https://www.tel.com/ir/policy/mplan/i9nanv00000000ga-att/20250226_TELIRDay_E_rev.1_slide_r3.pdf</a:t>
            </a:r>
          </a:p>
          <a:p xmlns:a="http://schemas.openxmlformats.org/drawingml/2006/main">
            <a:r>
              <a:t>- Public visual language only. No Tokyo Electron logo or proprietary slide master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§§2–4, 12.4, 19.2–19.3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bench/figures/generated/figure_data.json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§§3.1–3.3</a:t>
            </a:r>
          </a:p>
          <a:p xmlns:a="http://schemas.openxmlformats.org/drawingml/2006/main">
            <a:r>
              <a:t>- docs/rf-load-models.md §§Purpose, Main risks and controls</a:t>
            </a:r>
          </a:p>
          <a:p xmlns:a="http://schemas.openxmlformats.org/drawingml/2006/main">
            <a:r>
              <a:t>Interpretation: this slide defines the engineering problem. It does not claim apparatus qualification.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§§2, 3.1, 7.1–7.2</a:t>
            </a:r>
          </a:p>
          <a:p xmlns:a="http://schemas.openxmlformats.org/drawingml/2006/main">
            <a:r>
              <a:t>- docs/input-format.md §§Network, Conditions, Acceptance</a:t>
            </a:r>
          </a:p>
          <a:p xmlns:a="http://schemas.openxmlformats.org/drawingml/2006/main">
            <a:r>
              <a:t>The quantified decision is limited to the explicitly declared finite design, scenario, and control spaces.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docs/technical-specification-ja.md §§8.3, 9.1–9.6</a:t>
            </a:r>
          </a:p>
          <a:p xmlns:a="http://schemas.openxmlformats.org/drawingml/2006/main">
            <a:r>
              <a:t>- pyproject.toml (public package and pcd CLI entry point)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§§3.2–3.3, 4.2–4.4, 5.1</a:t>
            </a:r>
          </a:p>
          <a:p xmlns:a="http://schemas.openxmlformats.org/drawingml/2006/main">
            <a:r>
              <a:t>- docs/rf-load-models.md §§Implemented and deferred scope, Responsibility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.agents/skills/pcd-runner/references/execution-modes.md</a:t>
            </a:r>
          </a:p>
          <a:p xmlns:a="http://schemas.openxmlformats.org/drawingml/2006/main">
            <a:r>
              <a:t>- examples/rf_impedance_frequency_table.yaml</a:t>
            </a:r>
          </a:p>
          <a:p xmlns:a="http://schemas.openxmlformats.org/drawingml/2006/main">
            <a:r>
              <a:t>- examples/rf_ccp_lumped.yaml</a:t>
            </a:r>
          </a:p>
          <a:p xmlns:a="http://schemas.openxmlformats.org/drawingml/2006/main">
            <a:r>
              <a:t>- examples/rf_icp_transformer.yaml</a:t>
            </a:r>
          </a:p>
          <a:p xmlns:a="http://schemas.openxmlformats.org/drawingml/2006/main">
            <a:r>
              <a:t>- examples/rf_component_stress.yaml</a:t>
            </a:r>
          </a:p>
          <a:p xmlns:a="http://schemas.openxmlformats.org/drawingml/2006/main">
            <a:r>
              <a:t>- examples/advanced/rf_port_transient.yaml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docs/rf-load-models.md §§Impedance point, Measured frequency points without an R-L-C fit, Effective CCP R-L-C</a:t>
            </a:r>
          </a:p>
          <a:p xmlns:a="http://schemas.openxmlformats.org/drawingml/2006/main">
            <a:r>
              <a:t>- examples/rf_impedance_frequency_table.yaml</a:t>
            </a:r>
          </a:p>
          <a:p xmlns:a="http://schemas.openxmlformats.org/drawingml/2006/main">
            <a:r>
              <a:t>- examples/rf_ccp_lumped.yaml</a:t>
            </a:r>
          </a:p>
          <a:p xmlns:a="http://schemas.openxmlformats.org/drawingml/2006/main">
            <a:r>
              <a:t>- runs/presentation_assets_v5/impedance_table.cir and ccp_lumped.cir</a:t>
            </a:r>
          </a:p>
          <a:p xmlns:a="http://schemas.openxmlformats.org/drawingml/2006/main">
            <a:r>
              <a:t>Figures were produced by pcd visualize-netlist from PCD-generated netlists. No solver execution was used for these explanatory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docs/rf-load-models.md §Effective ICP transformer</a:t>
            </a:r>
          </a:p>
          <a:p xmlns:a="http://schemas.openxmlformats.org/drawingml/2006/main">
            <a:r>
              <a:t>- examples/rf_icp_transformer.yaml</a:t>
            </a:r>
          </a:p>
          <a:p xmlns:a="http://schemas.openxmlformats.org/drawingml/2006/main">
            <a:r>
              <a:t>- runs/presentation_assets_v5/icp_transformer.cir and icp_flattened.cir</a:t>
            </a:r>
          </a:p>
          <a:p xmlns:a="http://schemas.openxmlformats.org/drawingml/2006/main">
            <a:r>
              <a:t>The example parameters are syntax examples, not qualified chamber values. The topology renderer is explanatory and does not prove solver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https://ngspice.sourceforge.io/docs.html (official ngspice documentation and user manual)</a:t>
            </a:r>
          </a:p>
          <a:p xmlns:a="http://schemas.openxmlformats.org/drawingml/2006/main">
            <a:r>
              <a:t>- docs/technical-specification-ja.md §§8.2, 10.7, 13.1, 19.5</a:t>
            </a:r>
          </a:p>
          <a:p xmlns:a="http://schemas.openxmlformats.org/drawingml/2006/main">
            <a:r>
              <a:t>- runs/presentation_assets_v5/ccp_lumped.cir</a:t>
            </a:r>
          </a:p>
          <a:p xmlns:a="http://schemas.openxmlformats.org/drawingml/2006/main">
            <a:r>
              <a:t>- pcd/netlist.py, pcd/solver.py, pcd/analysis.py, pcd/sim_core.py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docs/rf-load-models.md §§Purpose, Reference plane and data rules, Measurement and power</a:t>
            </a:r>
          </a:p>
          <a:p xmlns:a="http://schemas.openxmlformats.org/drawingml/2006/main">
            <a:r>
              <a:t>- docs/technical-specification-ja.md §§4.2–4.3, 12, 13</a:t>
            </a:r>
          </a:p>
          <a:p xmlns:a="http://schemas.openxmlformats.org/drawingml/2006/main">
            <a:r>
              <a:t>- D. M. Pozar, Microwave Engineering, 4th ed.</a:t>
            </a:r>
          </a:p>
          <a:p xmlns:a="http://schemas.openxmlformats.org/drawingml/2006/main">
            <a:r>
              <a:t>The energy closure is an electrical port balance, not a microscopic plasma energy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§§15.1–15.6</a:t>
            </a:r>
          </a:p>
          <a:p xmlns:a="http://schemas.openxmlformats.org/drawingml/2006/main">
            <a:r>
              <a:t>- R. T. Rockafellar and S. Uryasev, Optimization of Conditional Value-at-Risk, Journal of Risk 2(3), 2000, https://doi.org/10.21314/JOR.2000.038</a:t>
            </a:r>
          </a:p>
          <a:p xmlns:a="http://schemas.openxmlformats.org/drawingml/2006/main">
            <a:r>
              <a:t>PCD public RF studies enumerate every declared discrete state below safety bounds. The lexicographic key, not the auxiliary scalar, is normative.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§§16.1–16.10</a:t>
            </a:r>
          </a:p>
          <a:p xmlns:a="http://schemas.openxmlformats.org/drawingml/2006/main">
            <a:r>
              <a:t>- docs/input-format.md §Persisted truth</a:t>
            </a:r>
          </a:p>
          <a:p xmlns:a="http://schemas.openxmlformats.org/drawingml/2006/main">
            <a:r>
              <a:t>- D. R. Roberts et al., Ecography 40 (2017), https://doi.org/10.1111/ecog.02881</a:t>
            </a:r>
          </a:p>
          <a:p xmlns:a="http://schemas.openxmlformats.org/drawingml/2006/main">
            <a:r>
              <a:t>- C. Guo et al., ICML 2017, https://proceedings.mlr.press/v70/guo17a.html</a:t>
            </a:r>
          </a:p>
          <a:p xmlns:a="http://schemas.openxmlformats.org/drawingml/2006/main">
            <a:r>
              <a:t>- D. Sculley et al., NeurIPS 2015, https://proceedings.neurips.cc/paper/2015/hash/86df7dcfd896fcaf2674f757a2463eba-Abstract.html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§2 (four decisions)</a:t>
            </a:r>
          </a:p>
          <a:p xmlns:a="http://schemas.openxmlformats.org/drawingml/2006/main">
            <a:r>
              <a:t>- docs/technical-specification-ja.md §4.5 (evidence levels)</a:t>
            </a:r>
          </a:p>
          <a:p xmlns:a="http://schemas.openxmlformats.org/drawingml/2006/main">
            <a:r>
              <a:t>- docs/technical-specification-ja.md §19.2 (verification and validation hierarchy)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docs/technical-specification-ja.md §8.1 (full processing flowchart).</a:t>
            </a:r>
          </a:p>
          <a:p xmlns:a="http://schemas.openxmlformats.org/drawingml/2006/main">
            <a:r>
              <a:t>Implementation references: pcd/plan.py, pcd/validation.py, pcd/study.py, pcd/results/store.py.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docs/technical-specification-ja.md §§7.1–7.3.</a:t>
            </a:r>
          </a:p>
          <a:p xmlns:a="http://schemas.openxmlformats.org/drawingml/2006/main">
            <a:r>
              <a:t>The evaluation-count equations are normative for declared finite spaces.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bench/figures/generated/01-analysis-boundary-and-topologies.png</a:t>
            </a:r>
          </a:p>
          <a:p xmlns:a="http://schemas.openxmlformats.org/drawingml/2006/main">
            <a:r>
              <a:t>- docs/technical-specification-ja.md §11.2</a:t>
            </a:r>
          </a:p>
          <a:p xmlns:a="http://schemas.openxmlformats.org/drawingml/2006/main">
            <a:r>
              <a:t>- runs/benchmark_suite/benchmark_result.json (A1–A3)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§§12.2–12.4</a:t>
            </a:r>
          </a:p>
          <a:p xmlns:a="http://schemas.openxmlformats.org/drawingml/2006/main">
            <a:r>
              <a:t>- bench/figures/generated/02-effective-load-models.png</a:t>
            </a:r>
          </a:p>
          <a:p xmlns:a="http://schemas.openxmlformats.org/drawingml/2006/main">
            <a:r>
              <a:t>- J. J. Lee et al., AIP Advances 10, 035008 (2020), https://doi.org/10.1063/1.5133862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bench/figures/generated/03-reference-plane-circuits.png</a:t>
            </a:r>
          </a:p>
          <a:p xmlns:a="http://schemas.openxmlformats.org/drawingml/2006/main">
            <a:r>
              <a:t>- runs/benchmark_suite/benchmark_result.json (D1–D3)</a:t>
            </a:r>
          </a:p>
          <a:p xmlns:a="http://schemas.openxmlformats.org/drawingml/2006/main">
            <a:r>
              <a:t>- docs/technical-specification-ja.md §§4.2, 19.3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§§13.1–13.3</a:t>
            </a:r>
          </a:p>
          <a:p xmlns:a="http://schemas.openxmlformats.org/drawingml/2006/main">
            <a:r>
              <a:t>- D. M. Pozar, Microwave Engineering, 4th ed. (reflection coefficient convention)</a:t>
            </a:r>
          </a:p>
          <a:p xmlns:a="http://schemas.openxmlformats.org/drawingml/2006/main">
            <a:r>
              <a:t>- ngspice manual: https://ngspice.sourceforge.io/docs.html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§§14.1–14.4</a:t>
            </a:r>
          </a:p>
          <a:p xmlns:a="http://schemas.openxmlformats.org/drawingml/2006/main">
            <a:r>
              <a:t>- NumPy trapezoid: https://numpy.org/doc/stable/reference/generated/numpy.trapezoid.html</a:t>
            </a:r>
          </a:p>
          <a:p xmlns:a="http://schemas.openxmlformats.org/drawingml/2006/main">
            <a:r>
              <a:t>- NumPy least squares: https://numpy.org/doc/stable/reference/generated/numpy.linalg.lstsq.html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runs/benchmark_suite/benchmark_result.json: n_evaluations=411, passed=true, 16 cases, no failed evaluations</a:t>
            </a:r>
          </a:p>
          <a:p xmlns:a="http://schemas.openxmlformats.org/drawingml/2006/main">
            <a:r>
              <a:t>- docs/technical-specification-ja.md §19.3</a:t>
            </a:r>
          </a:p>
          <a:p xmlns:a="http://schemas.openxmlformats.org/drawingml/2006/main">
            <a:r>
              <a:t>Chart grouping: A1–A5=9; B1–B3=375; B4–B8=24; D1–D3=3; total=411.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bench/figures/generated/04-control-authority-results.png</a:t>
            </a:r>
          </a:p>
          <a:p xmlns:a="http://schemas.openxmlformats.org/drawingml/2006/main">
            <a:r>
              <a:t>- runs/benchmark_suite/benchmark_result.json (B1_fixed_nominal, B2_limited_tuner, B3_full_tuner)</a:t>
            </a:r>
          </a:p>
          <a:p xmlns:a="http://schemas.openxmlformats.org/drawingml/2006/main">
            <a:r>
              <a:t>Acceptance limit: |Gamma| &lt;= sqrt(0.1) = 0.3162277660; B2 additionally fails min_control_margin on three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runs/benchmark_suite/benchmark_result.json (A5_icp_transformer_frequency_conformance)</a:t>
            </a:r>
          </a:p>
          <a:p xmlns:a="http://schemas.openxmlformats.org/drawingml/2006/main">
            <a:r>
              <a:t>- bench/figures/generated/figure_data.json (a5.frequency_MHz)</a:t>
            </a:r>
          </a:p>
          <a:p xmlns:a="http://schemas.openxmlformats.org/drawingml/2006/main">
            <a:r>
              <a:t>- docs/technical-specification-ja.md §§4.3, 19.3</a:t>
            </a:r>
          </a:p>
          <a:p xmlns:a="http://schemas.openxmlformats.org/drawingml/2006/main">
            <a:r>
              <a:t>Data: |Gamma| = 0.9977743741, 4.7878e-12, 0.9999149939 at 10, 13.56, 20 MHz.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bench/figures/generated/06-b5-stress-results.png</a:t>
            </a:r>
          </a:p>
          <a:p xmlns:a="http://schemas.openxmlformats.org/drawingml/2006/main">
            <a:r>
              <a:t>- bench/figures/generated/figure_data.json (b5.scenarios, b5.limits)</a:t>
            </a:r>
          </a:p>
          <a:p xmlns:a="http://schemas.openxmlformats.org/drawingml/2006/main">
            <a:r>
              <a:t>- runs/benchmark_suite/benchmark_result.json (B5_high_drive_stress)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bench/figures/generated/10-b5-signal-and-power.png</a:t>
            </a:r>
          </a:p>
          <a:p xmlns:a="http://schemas.openxmlformats.org/drawingml/2006/main">
            <a:r>
              <a:t>- bench/figures/generated/figure_data.json (B5 phasors and power metrics)</a:t>
            </a:r>
          </a:p>
          <a:p xmlns:a="http://schemas.openxmlformats.org/drawingml/2006/main">
            <a:r>
              <a:t>Values: source real power 6.2887 W -&gt; 100.6186 W; load power 6.1378 W -&gt; 98.2042 W; efficiency 97.6004% at both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bench/figures/generated/07-b8-corner-results.png</a:t>
            </a:r>
          </a:p>
          <a:p xmlns:a="http://schemas.openxmlformats.org/drawingml/2006/main">
            <a:r>
              <a:t>- bench/figures/generated/figure_data.json (b8)</a:t>
            </a:r>
          </a:p>
          <a:p xmlns:a="http://schemas.openxmlformats.org/drawingml/2006/main">
            <a:r>
              <a:t>- runs/benchmark_suite/benchmark_result.json (B8_component_value_corner_stress)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bench/figures/generated/08-reference-plane-results.png</a:t>
            </a:r>
          </a:p>
          <a:p xmlns:a="http://schemas.openxmlformats.org/drawingml/2006/main">
            <a:r>
              <a:t>- runs/benchmark_suite/benchmark_result.json (D1–D3 exact values)</a:t>
            </a:r>
          </a:p>
          <a:p xmlns:a="http://schemas.openxmlformats.org/drawingml/2006/main">
            <a:r>
              <a:t>- docs/technical-specification-ja.md §§4.2, 19.3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§§16.1–16.10</a:t>
            </a:r>
          </a:p>
          <a:p xmlns:a="http://schemas.openxmlformats.org/drawingml/2006/main">
            <a:r>
              <a:t>- D. R. Roberts et al., Ecography 40 (2017), https://doi.org/10.1111/ecog.02881</a:t>
            </a:r>
          </a:p>
          <a:p xmlns:a="http://schemas.openxmlformats.org/drawingml/2006/main">
            <a:r>
              <a:t>- C. Guo et al., ICML 2017, https://proceedings.mlr.press/v70/guo17a.html</a:t>
            </a:r>
          </a:p>
          <a:p xmlns:a="http://schemas.openxmlformats.org/drawingml/2006/main">
            <a:r>
              <a:t>- D. Sculley et al., NeurIPS 2015, https://proceedings.neurips.cc/paper/2015/hash/86df7dcfd896fcaf2674f757a2463eba-Abstract.html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§§11.1–11.3</a:t>
            </a:r>
          </a:p>
          <a:p xmlns:a="http://schemas.openxmlformats.org/drawingml/2006/main">
            <a:r>
              <a:t>- bench/figures/generated/01-analysis-boundary-and-topologies.png</a:t>
            </a:r>
          </a:p>
          <a:p xmlns:a="http://schemas.openxmlformats.org/drawingml/2006/main">
            <a:r>
              <a:t>- D. M. Pozar, Microwave Engineering, 4th 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§12.4</a:t>
            </a:r>
          </a:p>
          <a:p xmlns:a="http://schemas.openxmlformats.org/drawingml/2006/main">
            <a:r>
              <a:t>- docs/rf-load-models.md §§Measurement and power, Main risks and controls</a:t>
            </a:r>
          </a:p>
          <a:p xmlns:a="http://schemas.openxmlformats.org/drawingml/2006/main">
            <a:r>
              <a:t>Interpretation: the rank condition is local and necessary; it does not establish global uniqueness.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bench/figures/generated/09-b5-port-waveforms.png</a:t>
            </a:r>
          </a:p>
          <a:p xmlns:a="http://schemas.openxmlformats.org/drawingml/2006/main">
            <a:r>
              <a:t>- bench/figures/generated/figure_data.json (B5 phasors)</a:t>
            </a:r>
          </a:p>
          <a:p xmlns:a="http://schemas.openxmlformats.org/drawingml/2006/main">
            <a:r>
              <a:t>- runs/benchmark_suite/benchmark_result.json (B5_high_drive_stress)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§§4.2–4.5, 6.3, 19.2</a:t>
            </a:r>
          </a:p>
          <a:p xmlns:a="http://schemas.openxmlformats.org/drawingml/2006/main">
            <a:r>
              <a:t>- docs/rf-load-models.md §§Reference plane and data rules, Measurement and power</a:t>
            </a:r>
          </a:p>
          <a:p xmlns:a="http://schemas.openxmlformats.org/drawingml/2006/main">
            <a:r>
              <a:t>The workflow is a proposed engineering integration sequence; apparatus qualification remains outside PCD.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§§4.5, 6.4, 19.2, 21</a:t>
            </a:r>
          </a:p>
          <a:p xmlns:a="http://schemas.openxmlformats.org/drawingml/2006/main">
            <a:r>
              <a:t>- docs/component-loss-stress.md §Limits of interpretation</a:t>
            </a:r>
          </a:p>
          <a:p xmlns:a="http://schemas.openxmlformats.org/drawingml/2006/main">
            <a:r>
              <a:t>This slide is a proposed qualification plan and does not claim that apparatus or process tests have been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docs/technical-specification-ja.md §§19.2, 19.9, 20, 21</a:t>
            </a:r>
          </a:p>
          <a:p xmlns:a="http://schemas.openxmlformats.org/drawingml/2006/main">
            <a:r>
              <a:t>- bench/README.md</a:t>
            </a:r>
          </a:p>
          <a:p xmlns:a="http://schemas.openxmlformats.org/drawingml/2006/main">
            <a:r>
              <a:t>Review principle: lower evidence levels do not substitute for apparatus-specific qualification.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3ca5503e8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39e1fa8cc84246" /><Relationship Type="http://schemas.openxmlformats.org/officeDocument/2006/relationships/slideLayout" Target="/ppt/slideLayouts/slideLayout1.xml" Id="Rf22493703ce4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2493703ce4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aa7911914ec6" /><Relationship Type="http://schemas.openxmlformats.org/officeDocument/2006/relationships/notesSlide" Target="/ppt/notesSlides/notesSlide1.xml" Id="R664686363fc548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309890764160" /><Relationship Type="http://schemas.openxmlformats.org/officeDocument/2006/relationships/notesSlide" Target="/ppt/notesSlides/notesSlide2.xml" Id="Rb37eb104d6844b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b384aa88d4306" /><Relationship Type="http://schemas.openxmlformats.org/officeDocument/2006/relationships/notesSlide" Target="/ppt/notesSlides/notesSlide3.xml" Id="R12fe7cc8dcf3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5148fb4a84326" /><Relationship Type="http://schemas.openxmlformats.org/officeDocument/2006/relationships/notesSlide" Target="/ppt/notesSlides/notesSlide4.xml" Id="R69e6edee3cea40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570e493a46de" /><Relationship Type="http://schemas.openxmlformats.org/officeDocument/2006/relationships/notesSlide" Target="/ppt/notesSlides/notesSlide5.xml" Id="Rb2ebe8c8a75d41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d341bdbe24649" /><Relationship Type="http://schemas.openxmlformats.org/officeDocument/2006/relationships/notesSlide" Target="/ppt/notesSlides/notesSlide6.xml" Id="R51e994c4d3d4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41d2f93654298" /><Relationship Type="http://schemas.openxmlformats.org/officeDocument/2006/relationships/notesSlide" Target="/ppt/notesSlides/notesSlide7.xml" Id="R53cc30fbd0af4a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2980823a84bfd" /><Relationship Type="http://schemas.openxmlformats.org/officeDocument/2006/relationships/image" Target="/ppt/media/image.png" Id="Rbba68fa75cec4189" /><Relationship Type="http://schemas.openxmlformats.org/officeDocument/2006/relationships/image" Target="/ppt/media/image2.png" Id="R22dd7937c2be4c19" /><Relationship Type="http://schemas.openxmlformats.org/officeDocument/2006/relationships/notesSlide" Target="/ppt/notesSlides/notesSlide8.xml" Id="Re9d9776186dd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11d21bf874515" /><Relationship Type="http://schemas.openxmlformats.org/officeDocument/2006/relationships/image" Target="/ppt/media/image3.png" Id="R5136dd9d6d894f9d" /><Relationship Type="http://schemas.openxmlformats.org/officeDocument/2006/relationships/notesSlide" Target="/ppt/notesSlides/notesSlide9.xml" Id="Rf66a3a80ea8b42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369948e04531" /><Relationship Type="http://schemas.openxmlformats.org/officeDocument/2006/relationships/notesSlide" Target="/ppt/notesSlides/notesSlide10.xml" Id="Rf8756a6e7e3b4c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2b760bb384a58" /><Relationship Type="http://schemas.openxmlformats.org/officeDocument/2006/relationships/notesSlide" Target="/ppt/notesSlides/notesSlide11.xml" Id="R4ca83a1a19fc4d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01a3cfd574283" /><Relationship Type="http://schemas.openxmlformats.org/officeDocument/2006/relationships/notesSlide" Target="/ppt/notesSlides/notesSlide12.xml" Id="R309799c1fb8142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8fba394946a7" /><Relationship Type="http://schemas.openxmlformats.org/officeDocument/2006/relationships/notesSlide" Target="/ppt/notesSlides/notesSlide13.xml" Id="R9ee63bc2a1a14c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ac9fa74de4a8f" /><Relationship Type="http://schemas.openxmlformats.org/officeDocument/2006/relationships/notesSlide" Target="/ppt/notesSlides/notesSlide14.xml" Id="R8991bc4056fa43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6826e42554fc1" /><Relationship Type="http://schemas.openxmlformats.org/officeDocument/2006/relationships/notesSlide" Target="/ppt/notesSlides/notesSlide15.xml" Id="R6881ff12d73645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2216da3764194" /><Relationship Type="http://schemas.openxmlformats.org/officeDocument/2006/relationships/notesSlide" Target="/ppt/notesSlides/notesSlide16.xml" Id="R96bc5a61620a4a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fbe4d12ed4020" /><Relationship Type="http://schemas.openxmlformats.org/officeDocument/2006/relationships/image" Target="/ppt/media/image4.png" Id="Re2f851269ab04d10" /><Relationship Type="http://schemas.openxmlformats.org/officeDocument/2006/relationships/notesSlide" Target="/ppt/notesSlides/notesSlide17.xml" Id="Rb169e9e703344d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43933e07244cb" /><Relationship Type="http://schemas.openxmlformats.org/officeDocument/2006/relationships/image" Target="/ppt/media/image5.png" Id="R4c26a4fbc3e14e4e" /><Relationship Type="http://schemas.openxmlformats.org/officeDocument/2006/relationships/notesSlide" Target="/ppt/notesSlides/notesSlide18.xml" Id="Rbcd3e31dcac24e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a59f7ed7b4384" /><Relationship Type="http://schemas.openxmlformats.org/officeDocument/2006/relationships/image" Target="/ppt/media/image6.png" Id="R6bc9e9e00eb740cf" /><Relationship Type="http://schemas.openxmlformats.org/officeDocument/2006/relationships/notesSlide" Target="/ppt/notesSlides/notesSlide19.xml" Id="R1b6d731613fd49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e654ef9db419d" /><Relationship Type="http://schemas.openxmlformats.org/officeDocument/2006/relationships/notesSlide" Target="/ppt/notesSlides/notesSlide20.xml" Id="R38f94f43f7ac4d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4e9c5225049c8" /><Relationship Type="http://schemas.openxmlformats.org/officeDocument/2006/relationships/notesSlide" Target="/ppt/notesSlides/notesSlide21.xml" Id="R4978fea9174c49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dcc5dc94b4ad9" /><Relationship Type="http://schemas.openxmlformats.org/officeDocument/2006/relationships/chart" Target="/ppt/slides/charts/chart1.xml" Id="Re4bc789cc7b74ca8" /><Relationship Type="http://schemas.openxmlformats.org/officeDocument/2006/relationships/notesSlide" Target="/ppt/notesSlides/notesSlide22.xml" Id="Rc2d394712ac44e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6f14b564647d2" /><Relationship Type="http://schemas.openxmlformats.org/officeDocument/2006/relationships/image" Target="/ppt/media/image7.png" Id="Rc1222b0770334604" /><Relationship Type="http://schemas.openxmlformats.org/officeDocument/2006/relationships/notesSlide" Target="/ppt/notesSlides/notesSlide23.xml" Id="Rcd97c96b61e14b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0e110f9849d8" /><Relationship Type="http://schemas.openxmlformats.org/officeDocument/2006/relationships/chart" Target="/ppt/slides/charts/chart2.xml" Id="R3fb40f11545244be" /><Relationship Type="http://schemas.openxmlformats.org/officeDocument/2006/relationships/notesSlide" Target="/ppt/notesSlides/notesSlide24.xml" Id="R55d98fd18a8b46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6870e81a453e" /><Relationship Type="http://schemas.openxmlformats.org/officeDocument/2006/relationships/image" Target="/ppt/media/image8.png" Id="Ra60f9eb1613140ff" /><Relationship Type="http://schemas.openxmlformats.org/officeDocument/2006/relationships/notesSlide" Target="/ppt/notesSlides/notesSlide25.xml" Id="R39727f3640b340f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7b6bad7342be" /><Relationship Type="http://schemas.openxmlformats.org/officeDocument/2006/relationships/image" Target="/ppt/media/image9.png" Id="Ra10e129a246d4363" /><Relationship Type="http://schemas.openxmlformats.org/officeDocument/2006/relationships/notesSlide" Target="/ppt/notesSlides/notesSlide26.xml" Id="R38290155049e45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ed71f936844bb" /><Relationship Type="http://schemas.openxmlformats.org/officeDocument/2006/relationships/image" Target="/ppt/media/image10.png" Id="R06bc8b0818ea4940" /><Relationship Type="http://schemas.openxmlformats.org/officeDocument/2006/relationships/notesSlide" Target="/ppt/notesSlides/notesSlide27.xml" Id="R53abba3ffb5a40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e450de5d94626" /><Relationship Type="http://schemas.openxmlformats.org/officeDocument/2006/relationships/image" Target="/ppt/media/image11.png" Id="Rc819f88ca5034011" /><Relationship Type="http://schemas.openxmlformats.org/officeDocument/2006/relationships/notesSlide" Target="/ppt/notesSlides/notesSlide28.xml" Id="Rba68ba2af2b94d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223f3aba3451c" /><Relationship Type="http://schemas.openxmlformats.org/officeDocument/2006/relationships/notesSlide" Target="/ppt/notesSlides/notesSlide29.xml" Id="R615c1eea0b1e40e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df9a506db4870" /><Relationship Type="http://schemas.openxmlformats.org/officeDocument/2006/relationships/image" Target="/ppt/media/image12.png" Id="Ra9af3701282d47e1" /><Relationship Type="http://schemas.openxmlformats.org/officeDocument/2006/relationships/notesSlide" Target="/ppt/notesSlides/notesSlide30.xml" Id="R286a85c1591249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15bd34b8c4225" /><Relationship Type="http://schemas.openxmlformats.org/officeDocument/2006/relationships/notesSlide" Target="/ppt/notesSlides/notesSlide31.xml" Id="Ra4911b035f6749a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221e3c03640b5" /><Relationship Type="http://schemas.openxmlformats.org/officeDocument/2006/relationships/image" Target="/ppt/media/image13.png" Id="Rccc776595d2b4754" /><Relationship Type="http://schemas.openxmlformats.org/officeDocument/2006/relationships/notesSlide" Target="/ppt/notesSlides/notesSlide32.xml" Id="R1622ea892c4543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4d38daac04ebd" /><Relationship Type="http://schemas.openxmlformats.org/officeDocument/2006/relationships/notesSlide" Target="/ppt/notesSlides/notesSlide33.xml" Id="R35b1f11cff0c4ab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decf88ac14b7a" /><Relationship Type="http://schemas.openxmlformats.org/officeDocument/2006/relationships/notesSlide" Target="/ppt/notesSlides/notesSlide34.xml" Id="Rba1b1232f37d4f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e6bd623f4954" /><Relationship Type="http://schemas.openxmlformats.org/officeDocument/2006/relationships/notesSlide" Target="/ppt/notesSlides/notesSlide35.xml" Id="R116a6f99c68542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評価数　凍結 Core スイート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21163F"/>
              </a:solidFill>
              <a:latin typeface="Yu Gothic"/>
              <a:ea typeface="Yu Gothic"/>
              <a:cs typeface="Yu Gothi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ngspice evaluations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A8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E3F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式・負荷モデル
A1–A5</c:v>
                </c:pt>
                <c:pt idx="1">
                  <c:v>制御権限
B1–B3</c:v>
                </c:pt>
                <c:pt idx="2">
                  <c:v>設計リスク
B4–B8</c:v>
                </c:pt>
                <c:pt idx="3">
                  <c:v>基準面
D1–D3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9</c:v>
                </c:pt>
                <c:pt idx="1">
                  <c:v>375</c:v>
                </c:pt>
                <c:pt idx="2">
                  <c:v>24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A5 周波数点別の反射振幅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21163F"/>
              </a:solidFill>
              <a:latin typeface="Yu Gothic"/>
              <a:ea typeface="Yu Gothic"/>
              <a:cs typeface="Yu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|Γ|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10.00 MHz</c:v>
                </c:pt>
                <c:pt idx="1">
                  <c:v>13.56 MHz</c:v>
                </c:pt>
                <c:pt idx="2">
                  <c:v>20.00 MHz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0.9977743741</c:v>
                </c:pt>
                <c:pt idx="1">
                  <c:v>4.8E-12</c:v>
                </c:pt>
                <c:pt idx="2">
                  <c:v>0.9999149939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1047A-4A25-4A99-9F5A-C3F1915C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ENGINEERING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107241-856F-448F-8DC3-1DE961D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334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PCD RF回路設計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スタディ・プラットフォーム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60452-AF3E-45BF-9BBF-2A9035E9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E9EDF5"/>
                </a:solidFill>
                <a:latin typeface="Yu Gothic"/>
                <a:ea typeface="Yu Gothic"/>
                <a:cs typeface="Yu Gothic"/>
              </a:defRPr>
            </a:pPr>
            <a:r>
              <a:rPr sz="1800" b="0" i="0">
                <a:solidFill>
                  <a:srgbClr val="E9EDF5"/>
                </a:solidFill>
                <a:latin typeface="Yu Gothic"/>
                <a:ea typeface="Yu Gothic"/>
                <a:cs typeface="Yu Gothic"/>
              </a:rPr>
              <a:t>物理モデル・整合回路・半導体製造装置の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E9EDF5"/>
                </a:solidFill>
                <a:latin typeface="Yu Gothic"/>
                <a:ea typeface="Yu Gothic"/>
                <a:cs typeface="Yu Gothic"/>
              </a:defRPr>
            </a:pPr>
            <a:r>
              <a:rPr sz="1800" b="0" i="0">
                <a:solidFill>
                  <a:srgbClr val="E9EDF5"/>
                </a:solidFill>
                <a:latin typeface="Yu Gothic"/>
                <a:ea typeface="Yu Gothic"/>
                <a:cs typeface="Yu Gothic"/>
              </a:rPr>
              <a:t>適格性評価をつなぐ技術設計レビュー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EE44D-7857-4955-94F3-40EA4E4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70"/>
          </a:solidFill>
          <a:ln xmlns:a="http://schemas.openxmlformats.org/drawingml/2006/main" w="0">
            <a:solidFill>
              <a:srgbClr val="163B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99C4-2CF4-4500-AADA-C38CC1D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36902-6320-4452-96C6-B14F571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1196-347E-4E8D-881D-9DE75345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F4398-4031-49A8-8211-5A76620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rPr>
              <a:t>PCD 0.16.0　　凍結ベンチマーク 2026-09-15　　ngspice_cli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76FB5-5468-4586-BD1D-B6A8EBF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TECHNICAL DESIGN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608BB-9579-495F-8F30-D2C143B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7757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2">
            <a:extLst xmlns:a="http://schemas.openxmlformats.org/drawingml/2006/main">
              <a:ext uri="{FF2B5EF4-FFF2-40B4-BE49-F238E27FC236}">
                <a16:creationId xmlns:a16="http://schemas.microsoft.com/office/drawing/2014/main" id="{8AEFE564-73C8-477E-B1D9-E099405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01  EXECUTIVE SUMMARY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957B137-D3AD-449F-9E35-861A6BDF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技術レビューの要点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1A5BE-B93C-4110-B91C-EE06D616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5CFFE-703F-4948-9F6C-8BFB5F50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core benchmark and technical specification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5A4E0-F924-4885-BAD1-99A3F218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C1B15-4640-4F19-AB38-9D81ABC4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9D929-EB0F-44CC-B28D-5F31A63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7DAFF-BBFF-4E7C-96CE-9E115D32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4FC22-1DCF-4B38-AA08-BE725462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物理学者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8C88-32DE-4424-ABD5-CAA16728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端子一ポートの成立範囲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6BE17-6FE8-4B6F-816D-8D92DAE5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04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基準面と受動性を明示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単一周波数での過剰同定を回避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プラズマ状態量と工程性能は別検証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0C26D-6657-40AD-9047-B1E0A721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429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64764-9100-469C-BCFF-241E49E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5D57D-B4AD-4FA6-B644-89185C1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回路エンジニア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BEE28-F010-4E51-B14D-55C472B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固定回路と調整権限の分離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8D20B-4B0E-4BAD-951E-E69ECE06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304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反射・端子V/I・損失を同時判定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周波数・駆動・公差コーナーを列挙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基準面とpeak/RMS規約を固定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3BEC5-F941-4CA1-9B61-EE1636D6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429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C30D5-804B-486F-A069-956F5C3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8D451-55DC-4AC7-B0C9-60AEDBA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半導体装置エンジニア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93896-9279-4772-B49D-BFA55E4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装置適格性へ接続する証拠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A3337-FA2B-479E-A54C-7EE12A11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3048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測定・校正・デエンベディングを追跡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電力増加試験の停止基準を先に定義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8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熱・寿命・安全・工程は実機で閉じる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A29DD-542C-4202-BA1C-DD8E999A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411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86682-F5BE-4AF6-A694-68BCD966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実 ngspice 評価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E6748-C637-42B4-B2F3-895DFC74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16 / 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67462-6A66-4450-A615-6D2352F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0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期待挙動を再現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1E1E3-BCD4-4DFD-8685-FCAA74B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29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23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7852F-C348-49DC-8B76-1B92D643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0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solver failures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3885E-6A63-48FB-94DB-0A81C95E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23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6 /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A81F4-51FC-45ED-B303-2B9EB08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0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feasible / 診断的不成立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75DE1-F01F-40F1-AA0C-06871D0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43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有用性は、探索結果を装置採用の最終判断へ直接置き換えることではなく、電気的な不成立理由と次に必要な実証を分離できる点にある。</a:t>
            </a:r>
          </a:p>
        </p:txBody>
      </p:sp>
    </p:spTree>
    <p:extLst>
      <p:ext uri="{BB962C8B-B14F-4D97-AF65-F5344CB8AC3E}">
        <p14:creationId xmlns:p14="http://schemas.microsoft.com/office/powerpoint/2010/main" val="1404737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85155FF6-2BCD-4B74-A816-9D0795AA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02  ENGINEERING BACKGROUND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E1624C0-A618-4D13-AB41-E5AA0F1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RFプラズマ装置の設計課題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4170-0784-438F-90A3-34DE6C2C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BE86-88CB-444F-A7EC-21D4F0B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B6245-7DB4-46CB-BF56-F511346C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49A22-875D-4028-AA22-0126B25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A64F-411E-465E-9C9A-7CABD1E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343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37C2B-D0E6-4BD6-BDFC-B22BB69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工程条件・装置差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F566A-464E-492A-884E-3B5198B2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圧力 / ガス / 電力 / 配線寄生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1E40F-6839-4EB6-AF7D-0B28FABC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90650"/>
            <a:ext cx="2343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13335">
            <a:solidFill>
              <a:srgbClr val="7F2A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3036B-929B-435B-8F74-BBFEF5EE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端子インピーダンス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D1CE6-7A81-4DCB-9719-250E570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R+jX at declared reference plane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8F831-D24D-4CD9-8A63-2D0C344B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90650"/>
            <a:ext cx="2343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B5306-4C0F-4BEA-9164-21D47D5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整合回路・調整器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82419-8283-4C7D-B474-78BAFDB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固定部品 + 条件別の離散設定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80F52-3454-4164-BDC8-3F6D2379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90650"/>
            <a:ext cx="2343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2A6B3-0DA0-4E54-AE97-2FB493C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電気制約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96976-2636-4D08-991A-77B9F26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Γ / V / I / 損失 / 調整余裕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28950" y="17811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27D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17811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27D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53450" y="17811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27D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601B3-B710-461A-B363-98392DFB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9334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対象は名目点の最小反射ではなく、一組の固定ハードウェアで運転範囲を覆う設計</a:t>
            </a:r>
          </a:p>
        </p:txBody>
      </p:sp>
      <p:graphicFrame>
        <p:nvGraphicFramePr>
          <p:cNvPr id="47" name=""/>
          <p:cNvGraphicFramePr/>
          <p:nvPr/>
        </p:nvGraphicFramePr>
        <p:xfrm>
          <a:off xmlns:a="http://schemas.openxmlformats.org/drawingml/2006/main" x="685800" y="310515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単純化した扱い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見落とす現象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設計上のリスク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4953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名目負荷だけで整合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工程・装置・周波数によるR+jX変動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実運転で反射制約を超える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チューナを連続値で近似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実機の離散設定と端点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同じ整合点に到達できない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4953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反射係数だけを判定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部品端子V/I、損失、電源VA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低反射でも定格超過となる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基準面を曖昧にする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ケーブル・治具・フィードスルー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9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寄生成分の欠落または二重計上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6759E-40C4-4AEE-8145-F1921CBB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29300"/>
            <a:ext cx="9982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固定部品は運転条件ごとに交換できないため、負荷範囲・調整権限・電気定格を同時に評価する必要がある。</a:t>
            </a:r>
          </a:p>
        </p:txBody>
      </p:sp>
    </p:spTree>
    <p:extLst>
      <p:ext uri="{BB962C8B-B14F-4D97-AF65-F5344CB8AC3E}">
        <p14:creationId xmlns:p14="http://schemas.microsoft.com/office/powerpoint/2010/main" val="1650384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4">
            <a:extLst xmlns:a="http://schemas.openxmlformats.org/drawingml/2006/main">
              <a:ext uri="{FF2B5EF4-FFF2-40B4-BE49-F238E27FC236}">
                <a16:creationId xmlns:a16="http://schemas.microsoft.com/office/drawing/2014/main" id="{3E2540DA-95EE-4318-A7ED-69DF0125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03  PURPOSE &amp; DECISION MODEL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1217D9F-C6D2-4975-A009-5458AD3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固定設計・外生条件・操作状態を分けた意思決定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A3EAD-0786-4F1E-933C-4A956AA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BAEF8-2D6A-40CE-8FE1-9D82180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§§2,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F768D-225E-4E6C-844B-E741F93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E13B-6567-485D-9B0B-B5C0F5C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C8D10-203B-4573-8DF5-0A43432B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333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D80D5-F541-4D59-B09E-8A47D65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8740B-7854-486A-BC69-A84D137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3B958-EE59-408B-8A01-20CDE79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固定設計候補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231BD-01E2-4848-BC87-56C9109E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トポロジ、固定L/C、部品候補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条件間で変更しない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7D0ED-8113-4A8B-B49B-A9FF71D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90650"/>
            <a:ext cx="3333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F2A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31EA3-C512-4518-8159-93E4D6B7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906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A9D"/>
          </a:solidFill>
          <a:ln xmlns:a="http://schemas.openxmlformats.org/drawingml/2006/main" w="0">
            <a:solidFill>
              <a:srgbClr val="7F2A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16DE2-C0C5-4721-8037-37C1CAE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Scenario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34654-A729-4E92-94DA-9075BAAE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97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外生条件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D8EF6-68A9-47E1-9B9F-17739719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336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負荷R+jX、周波数、駆動、公差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設計側から操作しない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C9A9D-DC4F-48D1-804E-5D8383E4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90650"/>
            <a:ext cx="3333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B7E36-C0D6-43A3-8DFB-87FFA96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9065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0064E-40C2-4383-AB94-03852C3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5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ControlState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AE2D8-6B65-4848-8ADB-5AA92E80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9775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操作状態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99D0C-E933-46FD-B8D6-27423C3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33625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可変C1/C2などの離散設定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条件ごとに選び直せる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D2CDC-7E3D-493C-AAFE-E009B82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97917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∃ c∈C   such that   ∀ s∈S,  ∃ u∈Uₛ(c):  gₖ(c,s,u) ≤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FBE5A-D8B1-484C-9A73-D5DF0D8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850"/>
            <a:ext cx="48768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N_eval = Σc∈C  Σs∈S  |Uₛ(c)|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99A02-4971-4EC1-99A6-832E510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PCDが確定する判断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1A6C3-50E2-4C5F-82E8-BC9CB1F0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2387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宣言した離散集合内の最良固定候補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条件別の選択操作状態と調整余裕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全制約の合否、失敗、根拠成果物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7DB47-0523-4BA6-AB12-13D88D5D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PCD単体では確定しない判断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75A1C-F786-4F4A-958E-BCE84EA4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2387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95250" rIns="11430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未宣言連続空間での大域最適性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プラズマ密度・化学・温度・工程性能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03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35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部品熱寿命、絶縁寿命、制御安定性</a:t>
            </a:r>
          </a:p>
        </p:txBody>
      </p:sp>
    </p:spTree>
    <p:extLst>
      <p:ext uri="{BB962C8B-B14F-4D97-AF65-F5344CB8AC3E}">
        <p14:creationId xmlns:p14="http://schemas.microsoft.com/office/powerpoint/2010/main" val="154195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5">
            <a:extLst xmlns:a="http://schemas.openxmlformats.org/drawingml/2006/main">
              <a:ext uri="{FF2B5EF4-FFF2-40B4-BE49-F238E27FC236}">
                <a16:creationId xmlns:a16="http://schemas.microsoft.com/office/drawing/2014/main" id="{69208E01-8A3D-4700-A5BD-4D66BA7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04  CODE STRUCTURE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1A2B5E2-DB00-43CD-9C67-B87385E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コード構成と責務境界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D71AF-1482-481F-980B-B32A88BF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A6E98-0743-4A46-AA2F-20B8FB1D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docs/architecture.md / Technical specification §9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76F1D-6B63-47A9-863F-D15296D4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C6DB9-F520-4E5A-8BF7-4A328364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3143250"/>
                <a:gridCol w="3733800"/>
                <a:gridCol w="2457450"/>
              </a:tblGrid>
              <a:tr h="72771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層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主要モジュール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所有する責務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責務外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72771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入力・計画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case / plan / validation / study_config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読込、短縮記法コンパイル、検査、役割オブジェクト化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回路計算、ソルバー実行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設計判断コア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core.models / spaces / pipeline / aggregation / search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直積列挙、失敗のデータ化、条件別選択、候補集約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回路式、装置固有データ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2771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回路・計測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rf_loads / netlist / solver / analysis / metrics / signals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負荷一ポート、ネットリスト、AC/過渡、電力・ストレス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装置適格性、工程性能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永続化・監査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study / artifacts / records / results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指紋、キャッシュ、世代、評価表、最終判断面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外部モデルの科学的妥当性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04AE4-AC95-4AB1-9343-C856A654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安定した拡張面 pcd.api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399D2-9168-48A2-9982-616DEA9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circuit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3A357-2916-416B-AD5F-DFEB0B85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回路ビルダ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7F7A6-0C50-49EF-83ED-C024B4B1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8BE41-CAEC-4B1C-BC4A-A7A3F47F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6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負荷モデル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7AE3E-1E6C-4108-B749-91915CC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solver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2E5FB-09CC-4ED9-9850-73E6D6A2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6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ソルバー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BCBA1-54D1-4FB2-A880-26630D28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2302F-F2D5-4568-9F99-B6A09C10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6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指標・制約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7D546-28AA-4A01-A4D7-A4588784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19700"/>
            <a:ext cx="1466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1E3F73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1E3F73"/>
                </a:solidFill>
                <a:latin typeface="Yu Gothic"/>
                <a:ea typeface="Yu Gothic"/>
                <a:cs typeface="Yu Gothic"/>
              </a:rPr>
              <a:t>optimizer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B692B-F20C-47A7-A36F-F1011DA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62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候補生成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A8FEA-9173-4C89-94A4-0929DAE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公開RF入力は一度だけ明示Caseへコンパイルし、下流の数値経路は同じCaseを共有する。</a:t>
            </a:r>
          </a:p>
        </p:txBody>
      </p:sp>
    </p:spTree>
    <p:extLst>
      <p:ext uri="{BB962C8B-B14F-4D97-AF65-F5344CB8AC3E}">
        <p14:creationId xmlns:p14="http://schemas.microsoft.com/office/powerpoint/2010/main" val="1325936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6">
            <a:extLst xmlns:a="http://schemas.openxmlformats.org/drawingml/2006/main">
              <a:ext uri="{FF2B5EF4-FFF2-40B4-BE49-F238E27FC236}">
                <a16:creationId xmlns:a16="http://schemas.microsoft.com/office/drawing/2014/main" id="{1D27F95B-79E1-43AB-8797-273A6FDC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05  CAPABILITY MAP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12F82E4-9017-42E5-9B40-460B977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基盤として可能なことと判断限界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6DC76-B2AE-4179-B220-A837B7FB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FE131-363D-41B2-9688-7349FD0E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§§3.2–3.3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36EE2-10FB-4848-A4F4-C9B5AD0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6EAB4-BF86-4897-B831-C6CF9611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108204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3390900"/>
                <a:gridCol w="2876550"/>
                <a:gridCol w="2533650"/>
              </a:tblGrid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利用目的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実装された方法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主要出力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判断限界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固定整合回路の選定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Candidate×Scenario×Controlの有限直積を評価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最良候補、可行率、条件別設定、余裕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宣言した離散集合内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周波数点の再生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測定各行を独立した一周波数ACとして実行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Zin、Γ、反射電力、条件別判定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未測定負荷を補間しない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CCP / ICP等価負荷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適格性確認済み受動一ポートを接続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整合、共振移動、感度、端子電力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放電状態や化学種別電力は計算しない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部品ストレス・損失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peak/RMS、実効直列損失、電力閉合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端子V/I、損失、電源VA、残差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温度・寿命・絶縁定格は別検証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基準面・外部回路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明示基準面、外部netlist取込、負対照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二重計上差、入力指紋、監査成果物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不明な治具包含を自動推定しない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7764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データ分析連携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一論理評価一行のevaluations.csv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特徴量、状態、制約、成果物、指紋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学習・登録・推論運用は内蔵しない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AD29E-3DC3-463C-B78A-7056223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05500"/>
            <a:ext cx="101727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有用性は、電気設計の可否と、次に必要な測定・熱・安全・工程証拠を切り分けられる点にある。</a:t>
            </a:r>
          </a:p>
        </p:txBody>
      </p:sp>
    </p:spTree>
    <p:extLst>
      <p:ext uri="{BB962C8B-B14F-4D97-AF65-F5344CB8AC3E}">
        <p14:creationId xmlns:p14="http://schemas.microsoft.com/office/powerpoint/2010/main" val="1823869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7">
            <a:extLst xmlns:a="http://schemas.openxmlformats.org/drawingml/2006/main">
              <a:ext uri="{FF2B5EF4-FFF2-40B4-BE49-F238E27FC236}">
                <a16:creationId xmlns:a16="http://schemas.microsoft.com/office/drawing/2014/main" id="{190BDA05-8B01-43E3-B6E2-1EA33990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06  WORKFLOW CATALOG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EE682AC-ABF8-4274-8A93-E3E3E9A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処理例ごとのワークフロー選択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E8209-7F79-46F8-9526-6DA51E86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082A0-2333-4FDB-B822-8B4EBF82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Examples and pcd-runner execution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16864-0804-4FFF-877C-D983B85B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7442D-6C98-4731-B9C2-E365DA9C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108204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095500"/>
                <a:gridCol w="1962150"/>
                <a:gridCol w="3143250"/>
                <a:gridCol w="2152650"/>
              </a:tblGrid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処理例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主な実行経路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設計質問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主要成果物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A 測定R+jX点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impedance_table + 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validate-case /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同じ固定回路で各測定点を覆えるか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resolved_plan、evaluations.csv、best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7F2A9D"/>
                          </a:solidFill>
                          <a:latin typeface="Yu Gothic"/>
                          <a:ea typeface="Yu Gothic"/>
                          <a:cs typeface="Yu Gothic"/>
                        </a:rPr>
                        <a:t>B 有効CCP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ccp_lumped + 周波数条件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validate-case / run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適格範囲内で整合とストレスを満たすか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生成netlist、Γ、V/I、損失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36F21"/>
                          </a:solidFill>
                          <a:latin typeface="Yu Gothic"/>
                          <a:ea typeface="Yu Gothic"/>
                          <a:cs typeface="Yu Gothic"/>
                        </a:rPr>
                        <a:t>C 有効ICP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icp_transformer + coil基準面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validate-case /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端子同定モデルで候補を比較できるか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端子Z、反射、候補順位、モデル由来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D13C58"/>
                          </a:solidFill>
                          <a:latin typeface="Yu Gothic"/>
                          <a:ea typeface="Yu Gothic"/>
                          <a:cs typeface="Yu Gothic"/>
                        </a:rPr>
                        <a:t>D 高駆動ストレス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drive_peak_V + loss_ohm + limits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run / result-summary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低反射でも部品定格を超えないか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peak/RMS、loss、source VA、violations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717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E 外部回路・過渡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case_yaml.v1 + netlist / transient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sim-netlist / sim-run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既存回路と過渡計測規約を再現できるか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netlist、solver log、波形、manifest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821E8-E575-4283-ABEC-BD2A139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05500"/>
            <a:ext cx="94107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例題は入力構文とモデル挙動の確認用であり、実チャンバの適格データや工程レシピを意味しない。</a:t>
            </a:r>
          </a:p>
        </p:txBody>
      </p:sp>
    </p:spTree>
    <p:extLst>
      <p:ext uri="{BB962C8B-B14F-4D97-AF65-F5344CB8AC3E}">
        <p14:creationId xmlns:p14="http://schemas.microsoft.com/office/powerpoint/2010/main" val="881091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8">
            <a:extLst xmlns:a="http://schemas.openxmlformats.org/drawingml/2006/main">
              <a:ext uri="{FF2B5EF4-FFF2-40B4-BE49-F238E27FC236}">
                <a16:creationId xmlns:a16="http://schemas.microsoft.com/office/drawing/2014/main" id="{380C68DF-11CC-4E92-A117-4428A1F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07  LOAD WORKFLOWS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3F383AE-E743-4D65-9675-C52EB92A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測定R+jX点と有効CCPの処理例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346D7-728B-4753-A8CD-C4CE33E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C8AE0-3764-4994-BB1F-9059BBE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Generated from validated public RF examples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38A1F-7C8E-4B7B-B126-A47BE30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C5BB9-A1ED-46C4-92B0-10042F4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7364-5EEA-46B7-A65B-4FB33AF3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1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A  測定インピーダンステーブル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7E754-9976-4EB5-A363-D4984A25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1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  有効CCP直列R-L-C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22729-9D6A-4859-818A-CBA6B94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38750" cy="26289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68fa75cec4189"/>
          <a:stretch xmlns:a="http://schemas.openxmlformats.org/drawingml/2006/main"/>
        </p:blipFill>
        <p:spPr>
          <a:xfrm xmlns:a="http://schemas.openxmlformats.org/drawingml/2006/main">
            <a:off x="1370072" y="1657350"/>
            <a:ext cx="3870206" cy="2419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9B2FF-7404-45CC-872F-8DDF753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5238750" cy="262890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d7937c2be4c19"/>
          <a:stretch xmlns:a="http://schemas.openxmlformats.org/drawingml/2006/main"/>
        </p:blipFill>
        <p:spPr>
          <a:xfrm xmlns:a="http://schemas.openxmlformats.org/drawingml/2006/main">
            <a:off x="6456170" y="1657350"/>
            <a:ext cx="4861311" cy="2419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D0D2C-83CA-42F9-A427-24CB52E9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5010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Z(fᵢ)=Rᵢ+jXᵢ     X&gt;0: L=X/ωᵢ     X&lt;0: C=−1/(ωᵢX)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50998-D831-4CDD-BED1-2FEAA0C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5010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63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63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Z_CCP(ω)=R_eff+jωL_eff+1/(jωC_sheath,eq)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56499-AC49-4E98-AB15-1E38E92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50101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計測・デエンベディング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各行をScenarioとして保持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同じ周波数で一AC点を計算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行間補間と広帯域外挿を行わない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DDC54-76DB-472A-8D61-28274262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501015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外部で適格性を確認した端子フィット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複数周波数または独立拘束で同定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整合・共振移動・感度を評価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電子・イオン・シース電力へ分解しない</a:t>
            </a:r>
          </a:p>
        </p:txBody>
      </p:sp>
    </p:spTree>
    <p:extLst>
      <p:ext uri="{BB962C8B-B14F-4D97-AF65-F5344CB8AC3E}">
        <p14:creationId xmlns:p14="http://schemas.microsoft.com/office/powerpoint/2010/main" val="1779890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9">
            <a:extLst xmlns:a="http://schemas.openxmlformats.org/drawingml/2006/main">
              <a:ext uri="{FF2B5EF4-FFF2-40B4-BE49-F238E27FC236}">
                <a16:creationId xmlns:a16="http://schemas.microsoft.com/office/drawing/2014/main" id="{81D8E750-63E5-4B1B-B0FB-421060C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08  ICP WORKFLOW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E1E7967-1484-4F89-86EF-B54F660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処理例C: 有効ICP端子モデル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689C1-2AED-4CDF-BE06-950CE673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F2B2F-D220-4A4D-99A3-3440D930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Generated from validated public RF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29E29-725B-42AF-B410-161C91A1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69D6B-1E45-4A82-966F-0CC071D8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747B9-1A98-4459-B9A3-A7B9A58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286500" cy="4171950"/>
          </a:xfrm>
          <a:prstGeom xmlns:a="http://schemas.openxmlformats.org/drawingml/2006/main" prst="roundRect">
            <a:avLst>
              <a:gd name="adj" fmla="val 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6dd9d6d894f9d"/>
          <a:stretch xmlns:a="http://schemas.openxmlformats.org/drawingml/2006/main"/>
        </p:blipFill>
        <p:spPr>
          <a:xfrm xmlns:a="http://schemas.openxmlformats.org/drawingml/2006/main">
            <a:off x="819150" y="1761038"/>
            <a:ext cx="6019800" cy="339307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2EA6-4515-4CCD-B621-7077FC91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66850"/>
            <a:ext cx="42100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Z_series(ω)=R_coil+jωL_coil + ω²L_ref /(γ+jω)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FA0FC-74F9-411A-A733-3170444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24100"/>
            <a:ext cx="42100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Z_ICP(ω)=1 / (1/Z_series + jωC_parallel)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3168A-5494-4A59-B513-D11BD87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43250"/>
            <a:ext cx="1200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  独立同定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33BBE-3EC8-4508-9059-E9EB0AD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coil/dummy、plasma-off/on、周波数掃引から端子量を分離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F57A3-16D3-4C20-AB40-A10B13CB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1200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2  入力境界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34712-6E15-47F6-9345-91E63AB2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R_coil、L_coil、L_ref、γ、任意C_parallelと基準面を固定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A6C5A-1F66-41A2-BB28-E2FC3AD6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05350"/>
            <a:ext cx="12001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  設計評価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2A013-99D9-4369-A050-66570A1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9146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候補回路を全条件で評価し、端子反射・V/I・損失を判定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DC6CF-6524-47D6-B241-BBA651D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9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99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図は説明用トポロジ。相互結合Kloadと二次側R-Lは生成netlistに保存される。γは独立証拠がなければ衝突周波数と解釈しない。</a:t>
            </a:r>
          </a:p>
        </p:txBody>
      </p:sp>
    </p:spTree>
    <p:extLst>
      <p:ext uri="{BB962C8B-B14F-4D97-AF65-F5344CB8AC3E}">
        <p14:creationId xmlns:p14="http://schemas.microsoft.com/office/powerpoint/2010/main" val="1725106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0">
            <a:extLst xmlns:a="http://schemas.openxmlformats.org/drawingml/2006/main">
              <a:ext uri="{FF2B5EF4-FFF2-40B4-BE49-F238E27FC236}">
                <a16:creationId xmlns:a16="http://schemas.microsoft.com/office/drawing/2014/main" id="{C4BFD02A-57BE-4855-BF68-DCB7D5D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09  NGSPICE METHOD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0F715C2-067D-4EAE-8842-E2D459B6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ngspice連携と数値評価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5490E-CAB0-48B6-9C0C-5E0D9BE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D8BBD-1418-430B-99C6-7367C833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ngspice official manual / PCD numerical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F110D-D9A5-4095-8598-66149A1D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BD608-7F62-456C-8CBD-DD15A56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51107-9760-4787-AEF2-B9B71AD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00600" cy="42672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34D69-AE52-4CC0-B6CD-827E011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441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生成netlistの実例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2C0C2-816D-4266-8451-9A44C51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4381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133350" tIns="133350" rIns="11430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Vsrc src 0 SIN(0 1 10000000 0 0 0) AC 1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L1 src electrode {L1}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C1 electrode 0 {C1}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Xload electrode 0 load_model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.save v(src) i(Vsrc) v(electrode)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.control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set numdgt=15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ac lin 1 1e+07 1e+07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wrdata ac.csv v(src) i(Vsrc) v(electrode)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quit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.endc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defRPr>
            </a:pPr>
            <a:r>
              <a:rPr sz="990" b="0" i="0">
                <a:solidFill>
                  <a:srgbClr val="2B2E33"/>
                </a:solidFill>
                <a:latin typeface="Consolas"/>
                <a:ea typeface="Consolas"/>
                <a:cs typeface="Consolas"/>
              </a:rPr>
              <a:t>.end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A6716-24BB-4142-B8BE-F1FE69D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3815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1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1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ngspice_con.exe -b -o solver.log netlist.cir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810250" y="1371600"/>
          <a:ext xmlns:a="http://schemas.openxmlformats.org/drawingml/2006/main" cx="56959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809750"/>
                <a:gridCol w="1562100"/>
                <a:gridCol w="1428750"/>
              </a:tblGrid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PCDの責務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ngspiceの責務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保存証拠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コンパイル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値・単位・基準面を解決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resolved_plan / case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回路生成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決定的な回路・probe・解析指令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netlist読込と行列構築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netlist.cir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バッチ解析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argv、timeout、実行環境を固定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AC / transientを数値求解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solver.log / 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電気量化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電流符号、フェーザ、電力、stress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節点電圧・枝電流を出力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metrics / observations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9055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失敗処理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状態・空成果物・原因を保持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終了コードと診断を返す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79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sim_manifest.json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E4B02-8F2B-4689-8EA7-90CF45A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24450"/>
            <a:ext cx="56959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Z_in = V_src / (−I_ng)      Γ = (Z_in−Z₀)/(Z_in+Z₀)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6E37C-952B-4875-9688-A74FA8D2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10250"/>
            <a:ext cx="5391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9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99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ソルバー成功と工学的合格は別判定。受入制約と証拠完全性は結果読込み後に評価する。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227590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1">
            <a:extLst xmlns:a="http://schemas.openxmlformats.org/drawingml/2006/main">
              <a:ext uri="{FF2B5EF4-FFF2-40B4-BE49-F238E27FC236}">
                <a16:creationId xmlns:a16="http://schemas.microsoft.com/office/drawing/2014/main" id="{0CFCD4B8-187D-4BF2-BBBC-554A268E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10  PLASMA RF MODEL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F675267-BF34-494F-8096-4D637C49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プラズマ投入回路の境界と基準面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63D4-511D-429F-9F6F-9D6CABD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BCC03-7DCC-4D22-863F-6BB9CCA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Reference-plane and one-port modelling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32398-8E57-4E6C-B35A-223BAF2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5F242-87B1-4A2A-8AF9-3B5CE97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3009900"/>
                <a:gridCol w="3105150"/>
                <a:gridCol w="2819400"/>
              </a:tblGrid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物理区間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PCDでの表現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必要な証拠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主な誤差・二重計上リスク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RF電源・50 Ω測定面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source、Z₀、drive_peak_V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電源端子定義、方向性結合器校正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進行波面と理想電源端子の混同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同軸・伝送区間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外部netlistまたは事前デエンベディング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Sパラメータ、ケーブル長、損失、温度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集中定数で不十分な位相遅延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整合回路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L / Pi / Pi-harmonic、固定・探索・調整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実装値、離散範囲、ESR/DCR、定格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連続設定近似、定格超過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治具・フィードスルー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明示回路または負荷側へ一度だけ包含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校正面、fixture版、de-embedding記録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寄生の欠落または二重計上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チャンバ端子一ポート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R+jX、ccp_lumped、icp_transformer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同一基準面の複素V/I、適用範囲、残差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過剰同定、外挿、非受動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プラズマ・工程内部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端子で受けた実効負荷としてのみ反映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独立プラズマモデル、光学・プローブ・工程測定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32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密度・化学・温度・収率の過剰解釈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32998-187C-4CC4-9D20-D5ACD2A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219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P_src = P_load,port + ΣP_loss + ε_balance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F9938-0AA1-45A6-B7AB-61377E6E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52387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同一のケーブル・治具・フィードスルーを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回路候補と負荷データの両方へ含めない</a:t>
            </a:r>
          </a:p>
        </p:txBody>
      </p:sp>
    </p:spTree>
    <p:extLst>
      <p:ext uri="{BB962C8B-B14F-4D97-AF65-F5344CB8AC3E}">
        <p14:creationId xmlns:p14="http://schemas.microsoft.com/office/powerpoint/2010/main" val="935228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2">
            <a:extLst xmlns:a="http://schemas.openxmlformats.org/drawingml/2006/main">
              <a:ext uri="{FF2B5EF4-FFF2-40B4-BE49-F238E27FC236}">
                <a16:creationId xmlns:a16="http://schemas.microsoft.com/office/drawing/2014/main" id="{9B3B5FA8-D259-4D0C-A00B-F7E5770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11  OPTIMIZATION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ADDC2DD-BF0C-4F5B-81DA-D14FAED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可行性優先の全列挙と辞書式順位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4DB4-D01E-4456-B4EF-ED3F18D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C92F-E22B-4681-8C28-CED7D07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CD83-13CC-4B75-8B90-89A2594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1D042-B86B-416D-9E98-1B061245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DAD89-2ABE-4B2E-8C92-9F7AB0B7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1051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c* = arg min_lex  K(c)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363A5-1591-4824-B3DF-523F462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71600"/>
            <a:ext cx="74485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K(c) = (1[証拠不完全または全条件不可行], 1−s_success, 1−s_feasible,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388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          total_violation, signed objectives, −control_margin)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3905250"/>
                <a:gridCol w="5124450"/>
              </a:tblGrid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比較順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判定量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設計上の意味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1  証拠完全性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raw failure、search completeness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未計算候補を小違反候補より優先しない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2  条件被覆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success_fraction、feasible_fraction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一部条件だけの最良値より全条件の成立を優先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3  制約距離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正規化違反の重み付き平均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異単位制約を境界からの相対距離で比較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4  目的集約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mean / worst / CVaR、宣言順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平均性能、最悪条件、裾条件を目的に応じて選択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4826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5  調整余裕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m=minᵢ mᵢ、格子端0・中心1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同順位なら端点依存の小さい候補を優先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549B8-0674-455C-8F00-E15D8BC2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2197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v = max(0, x−L) / max(|L|,10⁻¹²)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421AF-C5E8-4C17-9B74-94CAA262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76900"/>
            <a:ext cx="523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13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mᵢ = clip( 2 min(uᵢ−lᵢ, hᵢ−uᵢ)/(hᵢ−lᵢ), 0, 1 )</a:t>
            </a:r>
          </a:p>
        </p:txBody>
      </p:sp>
    </p:spTree>
    <p:extLst>
      <p:ext uri="{BB962C8B-B14F-4D97-AF65-F5344CB8AC3E}">
        <p14:creationId xmlns:p14="http://schemas.microsoft.com/office/powerpoint/2010/main" val="235003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3">
            <a:extLst xmlns:a="http://schemas.openxmlformats.org/drawingml/2006/main">
              <a:ext uri="{FF2B5EF4-FFF2-40B4-BE49-F238E27FC236}">
                <a16:creationId xmlns:a16="http://schemas.microsoft.com/office/drawing/2014/main" id="{25CAB985-7295-4718-8EEA-EA5E3A1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12  MACHINE LEARNING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E97A5954-8124-4819-919A-F1F83C1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機械学習は候補生成と優先順位付けに限定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50D03-F00E-4E35-8831-ED4501A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16E40-7E33-4F61-96BA-F58C6076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6D3E0-183C-45F6-BDF1-C7CCCB27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EFDB-015C-4882-82E7-EF23CDE4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038A1-64D2-4CC8-A3C2-09D161B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103632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PCDは学習器を内蔵しない。代理モデルを使う場合も、採用候補は全外生条件・全操作状態をPCDで再計算して確定する。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04950"/>
                <a:gridCol w="2362200"/>
                <a:gridCol w="1809750"/>
                <a:gridCol w="2724150"/>
                <a:gridCol w="2419350"/>
              </a:tblGrid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学習課題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事前に使える入力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目的変数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最低限の評価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必須ガードレール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反射近似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design / scenario / control / frequency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reflection magnitude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群別MAE、最大誤差、境界近傍誤差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範囲外予測率とZ-Γ整合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電気ストレス近似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上記 + drive_peak_V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部品V/I、loss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上側分位誤差、最大過小評価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危険側誤差を独立管理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可否分類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事前条件 + 宣言制約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feasible on status=ok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誤受入率、再現率、PR-AUC、校正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failedを不合格ラベルにしない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操作状態推薦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design / scenario / constraints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control値または順位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再計算後合格率、regret、margin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selected_controlを入力にしない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429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失敗診断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case / solver / implementation lineage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status / failure stage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状態別再現率、未分類率、版別故障率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0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物理性能モデルと分離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0F54C-EA22-4BBB-AC91-63A610B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66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021B2-3B0A-4E89-8BF6-313D5E8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evaluations.csv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+ manifests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9739D-9223-4BD2-9094-E5CBFB56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0"/>
            <a:ext cx="1866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12383">
            <a:solidFill>
              <a:srgbClr val="7F2A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3C029-306D-4128-AAC6-CC119AE4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00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raw_cache_key・装置・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測定系列でgroup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863CB-7AA6-4E5A-B157-78D2E4D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24500"/>
            <a:ext cx="1866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891DD-15C8-4450-9044-D689435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00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失敗可否と電気量の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二段階モデル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33D33-AF67-494F-B8E7-281F929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524500"/>
            <a:ext cx="1866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2459E-64E7-42B9-9154-5CB4705D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候補shortlist・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評価順序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FB0F4-6EC9-4784-80B7-4AC71CC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524500"/>
            <a:ext cx="18669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383">
            <a:solidFill>
              <a:srgbClr val="1E3F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51569-0906-4269-A290-568167BF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00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PCD全列挙で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88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最終再評価</a:t>
            </a:r>
          </a:p>
        </p:txBody>
      </p: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52700" y="58197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727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43450" y="58197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727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34200" y="58197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727D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124950" y="58197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8727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55535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14">
            <a:extLst xmlns:a="http://schemas.openxmlformats.org/drawingml/2006/main">
              <a:ext uri="{FF2B5EF4-FFF2-40B4-BE49-F238E27FC236}">
                <a16:creationId xmlns:a16="http://schemas.microsoft.com/office/drawing/2014/main" id="{B0A9BCAF-A1FD-4047-AED4-2B8E9A7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13  SCOPE &amp; EVIDENCE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6BE72BAA-FAEB-467B-A33C-100F6EF5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4層の判定と5段の証拠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B8EF3-35B7-400F-BC78-469AE4C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25663-D11E-40AB-8F17-A3405C9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§§2, 4.5, 19.2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95798-58C3-495D-8771-377B0C7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623BC-D2D5-4AAD-BF26-CA01E70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23900" y="1466850"/>
          <a:ext xmlns:a="http://schemas.openxmlformats.org/drawingml/2006/main" cx="71247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2000250"/>
                <a:gridCol w="4381500"/>
              </a:tblGrid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レベル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証拠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主張できる範囲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入力検査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スキーマ・単位・有限値・受動性が実行可能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9F7FB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独立式・単体試験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実装式が解析式と一致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F7E5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実 ngspice 回帰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ネットリスト生成から凍結値まで再現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0E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測定／文献適合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指定基準面・検証範囲内で端子モデルが整合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858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BEAEC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対象装置での適格性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定格・熱・寿命・工程・安全を含む採用判断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AE383-8B0B-4A0A-81C1-45F3B0A6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同じ「合格」でも意味が違う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0BE6-5E95-4168-846B-8422C36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23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2B2E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4C994-4B10-4EDC-9957-3CD2B5D9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電気計算完了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1BDFB-4598-4413-B640-3AFF8EFD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ソルバーと結果読込みが完了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EFE14-7BCF-4800-8846-8B4A36F1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23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9525">
            <a:solidFill>
              <a:srgbClr val="00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F0C31-DC4A-414E-8A65-87B3FD6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工学的受入合格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CA0D2-C674-4EB4-81E3-E349A909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ケース記載の全制約を満足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A171A-084C-4588-B673-FD6138F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86175"/>
            <a:ext cx="323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36F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E0521-E455-4CCA-8435-91B7B768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ベンチマーク合格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4C75B-18BF-4981-8C7A-2FAF60E8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期待した数値・分類を再現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F926A-F610-46A2-9B40-E69F0704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24375"/>
            <a:ext cx="323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9525">
            <a:solidFill>
              <a:srgbClr val="74B7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F1FF3-F2C2-45CE-8DB0-FA73C9C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物理モデル適用可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28978-533C-425B-8421-399C32B0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76800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入力モデルが対象装置で妥当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D883F-DD75-46CF-9FF9-D51CE3A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24500"/>
            <a:ext cx="3238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67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下位レベルの合格を、上位レベルの代替証拠として使わない。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15282845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kicker-15">
            <a:extLst xmlns:a="http://schemas.openxmlformats.org/drawingml/2006/main">
              <a:ext uri="{FF2B5EF4-FFF2-40B4-BE49-F238E27FC236}">
                <a16:creationId xmlns:a16="http://schemas.microsoft.com/office/drawing/2014/main" id="{E2B8C167-2D75-4AB4-92CB-973B739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14  END-TO-END PROCESS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8959529-8EC6-4313-996F-80AF830E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入力から工学判断までの全体処理フロー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3D571-AB45-4B42-9F53-D1BBAC28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81B9B-32BC-40A9-ACE7-FEFB2CA9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§8.1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CB45-7736-4672-A824-929AFF0F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5285-4043-4D6D-BA63-B0765B1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29E4-5659-4E9E-98FF-26C2593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1AD21-73F7-48E9-8958-F188B8A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78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C2440-C4B8-4C3D-A2B2-2E1ADFC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CD2F5-C462-4790-9BF2-BF7287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78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601E0-36CF-4FE5-BC62-E6E070AB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DECIDE &amp; PUBLISH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2668C-D737-4217-9312-8EE4F6EC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782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066B4-345B-42F8-8CB6-997D92AF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17526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EFE34-296E-4406-9DCC-B9B5182A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入力 YAML /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FF9E8-2010-42B5-A234-15AFFCE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47825"/>
            <a:ext cx="195262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7065A-B427-48A0-82AA-0D5B9787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24025"/>
            <a:ext cx="1800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compile +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EE3AB-D182-45FC-B384-FD920FFB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47825"/>
            <a:ext cx="196215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1DBAC-A37F-4B48-8980-89AF492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7240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ResolvedPlan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実行設定を確定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9F33A-BE5B-4BE3-B791-C88E8EEA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647825"/>
            <a:ext cx="195262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256A7-9377-438D-AFF2-E73C2F39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24025"/>
            <a:ext cx="1800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指紋・入力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637A6-180A-4363-B74D-6D0CD4FE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47825"/>
            <a:ext cx="186690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F1B06-E879-430B-B4A3-5DD41157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2402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候補を全列挙</a:t>
            </a:r>
          </a:p>
        </p:txBody>
      </p: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57450" y="1990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33925" y="1990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19925" y="1990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296400" y="1990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16EC8-1547-4E7C-9AB4-F519369A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50495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D3E1B-B4D6-4C5E-A39B-78C2A12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Candidate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307826-38D1-45FE-BDF5-19A3210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48025"/>
            <a:ext cx="150495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F0725-D41C-4A44-8ABF-E8F7D5F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242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Scenario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5E802-3B42-4AE6-849C-FC0BEE5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48025"/>
            <a:ext cx="150495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B6B05-728E-44C0-B00A-052FDC9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24225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ControlState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0777F1-EBFC-4647-8A8B-14042BB2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48025"/>
            <a:ext cx="16002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15234-D713-4684-A513-26EA8E03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24225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成功 cache?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26667A-2A46-4B7A-9464-5DD0C01B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48025"/>
            <a:ext cx="1676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FF937F-B6ED-4ED8-8E07-C9959CE3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netlist +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ngspice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60321D-BB81-4C8A-849F-526B9445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48025"/>
            <a:ext cx="184785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37A051-F779-49AC-8ED9-10D1B9F0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24225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metrics + constraints</a:t>
            </a:r>
          </a:p>
        </p:txBody>
      </p:sp>
      <p:cxnSp>
        <p:nvCxnSpPr>
          <p:cNvPr id="95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2098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94335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6769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5057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410700" y="3600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82EE7F-1480-4330-B854-0AA67F49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576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hit時はRawResultを再利用。miss時は実計算。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1FAA20-BB54-40E8-AC3F-064AA324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0955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48062-4357-48BB-A082-5E441DD1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条件別に最良操作を選択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76A86B-8151-4F0E-80EB-50B06ACD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05375"/>
            <a:ext cx="20955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31EEB7-33CF-4CBB-8CB9-406D911A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98157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候補を重み付き集約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6D1530-5F0C-4CC7-A77D-795694C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05375"/>
            <a:ext cx="20955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6BFD02-1CC4-42F4-9CE9-1DC9057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81575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feasibility-first 順位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B1942F-E5E7-4044-93D2-4CAC6A74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905375"/>
            <a:ext cx="3381375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DADBB-A09D-4436-9368-6C8E65BA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81575"/>
            <a:ext cx="3228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原子的公開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study_result.json + evaluations.csv</a:t>
            </a:r>
          </a:p>
        </p:txBody>
      </p:sp>
      <p:cxnSp>
        <p:nvCxnSpPr>
          <p:cNvPr id="109" name="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800350" y="52578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5267325" y="52578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9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734300" y="52578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382603-2140-4DCB-860E-E268EBFA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78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各電気評価の成功・失敗・成果物を保持してから集約する</a:t>
            </a:r>
          </a:p>
        </p:txBody>
      </p:sp>
    </p:spTree>
    <p:extLst>
      <p:ext uri="{BB962C8B-B14F-4D97-AF65-F5344CB8AC3E}">
        <p14:creationId xmlns:p14="http://schemas.microsoft.com/office/powerpoint/2010/main" val="16393414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16">
            <a:extLst xmlns:a="http://schemas.openxmlformats.org/drawingml/2006/main">
              <a:ext uri="{FF2B5EF4-FFF2-40B4-BE49-F238E27FC236}">
                <a16:creationId xmlns:a16="http://schemas.microsoft.com/office/drawing/2014/main" id="{A82D66A7-738F-40BD-B841-11269C48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15  DOMAIN MODEL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C14BB345-5D49-4868-8537-9CAEFE07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役割分離による探索空間とデータ粒度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D8024-9023-4AD2-A820-DF7F4FE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3D339-8533-4877-AA6A-13B60970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F58C5-CABC-4461-A221-3F635F0D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771F2-B148-4E48-A238-4E9CEFCC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B0CA-1D04-4C1D-8BC7-5E1FD79C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2481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3335">
            <a:solidFill>
              <a:srgbClr val="2116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11ABB-AC63-4493-900D-9EBF516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Candidate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1F4C7-1CCF-47D7-9064-ADAEF727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859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固定ハードウェア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E168C-499E-4399-BA3D-14E5E8C9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8825"/>
            <a:ext cx="3790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条件間で不変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A51E6-9B52-4179-AC5E-6DCF553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2481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4AE3B-630D-4F68-AC86-F29E735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Scenario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E9A9B-0D22-4110-B6B3-04D4626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527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外生条件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AD62C-216C-40AA-8FB2-864B9BF1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3790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設計側から操作不能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8ECE1-8F67-4D34-9D7D-76089D54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2481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500C7-F125-456B-9F99-EC88A65C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ControlState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25A7F-7530-41F5-BC9C-BFD26A29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95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条件別操作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9B713-D7CA-4455-8C30-93659C7E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3790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外生条件ごとに選択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856C7-16C8-4992-9C34-0CAB85B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45910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16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97AFD-88E1-458D-B6A2-9F898A7D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EvaluationRequest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A8F91-F001-4984-A820-78641440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Candidate × Scenario × ControlState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F7F36-5F3E-4205-AD61-E26234F1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0375"/>
            <a:ext cx="51625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9525">
            <a:solidFill>
              <a:srgbClr val="B9D7E2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N_eval =  Σc∈C  Σs∈S  |U(c,s)|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C8856-6C4F-4617-8DB8-D004C61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05250"/>
            <a:ext cx="56578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公開 RF:   N_C = ∏ᵢ|Hᵢ|,   N_U = ∏ⱼ|Tⱼ|,   N_eval = N_C N_S N_U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262F6-1E7B-45FF-9674-9D6431F6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固定候補・操作状態は各250状態が既定上限。総評価数の上限ではない。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選択されなかった操作状態も保持し、失敗領域と選択バイアスを監査できる。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評価表の観測単位は一つの論理電気評価。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D3D3A-D7EB-4CAB-8107-09EED98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2481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Study、Candidate、Scenario、Evaluation の4階層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68C6B-E0DB-4E20-8BAA-6A65E13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24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階層 JSON と一評価一行 CSV を同時に残す</a:t>
            </a:r>
          </a:p>
        </p:txBody>
      </p:sp>
    </p:spTree>
    <p:extLst>
      <p:ext uri="{BB962C8B-B14F-4D97-AF65-F5344CB8AC3E}">
        <p14:creationId xmlns:p14="http://schemas.microsoft.com/office/powerpoint/2010/main" val="913494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7">
            <a:extLst xmlns:a="http://schemas.openxmlformats.org/drawingml/2006/main">
              <a:ext uri="{FF2B5EF4-FFF2-40B4-BE49-F238E27FC236}">
                <a16:creationId xmlns:a16="http://schemas.microsoft.com/office/drawing/2014/main" id="{12995988-A9D9-466F-B903-B5774B6B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16  MATCHING NETWORKS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60824DEF-8395-4533-B985-93BBAA0F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回路トポロジごとの設計自由度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08FA9-26B3-4612-BFCC-4C56A46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7CE8C-3592-4229-8EC7-CAF61F1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01 / A1–A3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DCB19-1552-487D-B81C-857ABAB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46361-7FBE-4307-B287-48FD3107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F39E5-8F4D-40AD-A83C-6D39B44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001000" cy="47434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851269ab04d10"/>
          <a:stretch xmlns:a="http://schemas.openxmlformats.org/drawingml/2006/main"/>
        </p:blipFill>
        <p:spPr>
          <a:xfrm xmlns:a="http://schemas.openxmlformats.org/drawingml/2006/main">
            <a:off x="1338858" y="1476375"/>
            <a:ext cx="6732984" cy="4457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0A542-D688-428A-8C5E-32DD0CE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設計自由度の読み方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7A578-F71F-4515-A942-84D37BE0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47850"/>
            <a:ext cx="257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L-match：</a:t>
            </a: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部品点数は少ないが、操作権限が限定される。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Pi-match：</a:t>
            </a: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二つの容量軸で整合・フィルタ特性を調整。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63" b="1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Pi + harmonic：</a:t>
            </a:r>
            <a:r>
              <a:rPr sz="1163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基本波整合と高調波経路を分離して設計。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73ABC-75BA-40B8-856B-CD94E853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33350" tIns="114300" rIns="1333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A1–A3 の合格が示すのは、閉形式の複素インピーダンスと生成ネットリストが一致したこと。トポロジの優劣や実機適格性ではない。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2209281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8">
            <a:extLst xmlns:a="http://schemas.openxmlformats.org/drawingml/2006/main">
              <a:ext uri="{FF2B5EF4-FFF2-40B4-BE49-F238E27FC236}">
                <a16:creationId xmlns:a16="http://schemas.microsoft.com/office/drawing/2014/main" id="{861B55F7-A249-486A-A59B-B4C90A4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17  LOAD MODELS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9C6C8BB-586A-4312-BE0E-F41F8BB2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指定基準面の受動一ポート負荷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D507-4679-43A9-9B26-7FCFF73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6C185-0EAD-4A49-8B39-94CF21DB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§12 / benchmark figure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9F776-A436-4F40-8AD6-ED71D4F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98B97-74EA-4B0F-AAA8-35C3AD8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3B85-4825-4A7C-8794-730D0C5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632460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6a4fbc3e14e4e"/>
          <a:stretch xmlns:a="http://schemas.openxmlformats.org/drawingml/2006/main"/>
        </p:blipFill>
        <p:spPr>
          <a:xfrm xmlns:a="http://schemas.openxmlformats.org/drawingml/2006/main">
            <a:off x="857250" y="1683889"/>
            <a:ext cx="6019800" cy="39855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DD4CB-A8E3-4CCD-B97C-7AA9A8BC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2875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CCP effective one-port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206E4-C450-44F3-801F-0C40FD3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1719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Z_CCP(ω) = R_eff + jωL_eff + 1/(jωC_sheath,eq)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8D2EF-A3F4-4B65-AB3D-74BFAA9F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71750"/>
            <a:ext cx="3943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領域：f&gt;0, L_eff&gt;0, C_sheath,eq&gt;0, R_eff≥0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R_eff は基準面下流の総実電力経路。粒子種別には分解しない。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C4AA7-552D-4580-9C0E-79DD11A8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2350"/>
            <a:ext cx="2228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ICP reduced transformer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3F6F2-6BBC-46F8-821E-655F5BCA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41719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Z_s(ω) = R_c + jωL_c + ω²L_r/(γ+jω)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Z_ICP(ω) = [1/Z_s(ω) + jωC_p]⁻¹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3CC1C-5038-46E5-B5F8-A6E8DAC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815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0≤L_r≤L_c は高周波極限で負の有効インダクタンスを排除する条件。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BBDE9-2C27-460E-A697-2053F66C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91175"/>
            <a:ext cx="417195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端子式の再現  ≠  密度・温度・化学・シース形状の妥当性確認</a:t>
            </a:r>
          </a:p>
        </p:txBody>
      </p:sp>
    </p:spTree>
    <p:extLst>
      <p:ext uri="{BB962C8B-B14F-4D97-AF65-F5344CB8AC3E}">
        <p14:creationId xmlns:p14="http://schemas.microsoft.com/office/powerpoint/2010/main" val="10548122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9">
            <a:extLst xmlns:a="http://schemas.openxmlformats.org/drawingml/2006/main">
              <a:ext uri="{FF2B5EF4-FFF2-40B4-BE49-F238E27FC236}">
                <a16:creationId xmlns:a16="http://schemas.microsoft.com/office/drawing/2014/main" id="{F3B7AB2F-97B5-46B9-9AB0-F8789F9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18  REFERENCE PLANE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6D37540B-9432-4459-A4D4-2A03BE8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回路モデルとしての基準面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F6DB6-26FC-415A-BFBB-AB52E09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434EB-1CAD-4CB7-B3D8-0E77DF5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03 / D1–D3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9D4BF-5F58-46D2-9F43-9D2BD8B6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F1DF9-AE44-4F8D-8CB0-918F1C7A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CC018-FC70-44EA-92B9-1D1A301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80200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9e9e00eb740cf"/>
          <a:stretch xmlns:a="http://schemas.openxmlformats.org/drawingml/2006/main"/>
        </p:blipFill>
        <p:spPr>
          <a:xfrm xmlns:a="http://schemas.openxmlformats.org/drawingml/2006/main">
            <a:off x="1449090" y="1504950"/>
            <a:ext cx="6531570" cy="4324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1C572-05D5-4838-8FF1-2014C93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同じ治具を一度だけ表現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1B2DE-21AF-4544-8224-5D87AA48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9525">
            <a:solidFill>
              <a:srgbClr val="74B7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373E9-78B9-4B02-BA50-44D1A70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D1  explicit fixture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D2  embedded once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12827-1FE3-4CF5-B2B7-3092A1E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6222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59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Z_in = 49.291 − j3.739 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|Γ| = 0.0383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40C46-521B-484D-A31C-F5594CC0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861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二重計上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15BBA-27BA-470F-ACA7-EA9A9E2F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13C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FCF3A-94F9-487E-9798-362E201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D3  fixture ×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4B8FA-6A8F-4068-8BAC-9265D3F7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Z_in = 75.905 − j36.571 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|Γ| = 0.3418   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3A8D5-3EEA-49C9-81B0-5221423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測定・デエンベディング・回路の基準面を同一の構成管理対象にする。</a:t>
            </a:r>
          </a:p>
        </p:txBody>
      </p:sp>
    </p:spTree>
    <p:extLst>
      <p:ext uri="{BB962C8B-B14F-4D97-AF65-F5344CB8AC3E}">
        <p14:creationId xmlns:p14="http://schemas.microsoft.com/office/powerpoint/2010/main" val="16390758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0">
            <a:extLst xmlns:a="http://schemas.openxmlformats.org/drawingml/2006/main">
              <a:ext uri="{FF2B5EF4-FFF2-40B4-BE49-F238E27FC236}">
                <a16:creationId xmlns:a16="http://schemas.microsoft.com/office/drawing/2014/main" id="{F016443F-E047-482F-BC47-6F41027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19  RF METROLOGY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E528CAE3-0C83-48D5-9806-D02DCA9F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RF計測の符号規約と peak/RMS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F4AE8-1CB4-41A5-9B1C-D012E230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DE536-D912-4AFB-99BC-A5F4AE5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72486-DDAE-4B6E-BA10-A68BD1F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5F7E4-9CC3-4CFD-AEE9-658587A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C152B-2A4A-4FB6-981E-DF5992FE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反射・整合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985E3-CFC3-44B4-962A-45CA0230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143250" cy="3486150"/>
          </a:xfrm>
          <a:prstGeom xmlns:a="http://schemas.openxmlformats.org/drawingml/2006/main" prst="roundRect">
            <a:avLst>
              <a:gd name="adj" fmla="val 39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A9D11-0038-4C0A-92D9-B835C3FB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2875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実電力・閉合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01EF7-AA56-4D85-8132-68ECC0F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09750"/>
            <a:ext cx="3143250" cy="3486150"/>
          </a:xfrm>
          <a:prstGeom xmlns:a="http://schemas.openxmlformats.org/drawingml/2006/main" prst="roundRect">
            <a:avLst>
              <a:gd name="adj" fmla="val 39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EB3A4-0DEB-4EEF-8BAC-0DD2EAE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143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部品ストレス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EC3E7-0F35-4910-AFF1-170C51AE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143250" cy="3486150"/>
          </a:xfrm>
          <a:prstGeom xmlns:a="http://schemas.openxmlformats.org/drawingml/2006/main" prst="roundRect">
            <a:avLst>
              <a:gd name="adj" fmla="val 39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09739-EFD0-469E-8D46-0EB4029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384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9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Γ = (Z_in − Z₀)/(Z_in + Z₀)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E5498-88CB-4E04-95B8-EEC4C6F5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8384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Γ = (V − Z₀I)/(V + Z₀I)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B59C7-C80C-4F21-91EF-EF6BE748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2724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開放近傍では V/I を経由せず、電圧・電流から直接 Γ を計算して発散を避ける。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E8554-820C-4714-B526-B6D6800D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00A8D7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00A8D7"/>
                </a:solidFill>
                <a:latin typeface="Cambria Math"/>
                <a:ea typeface="Cambria Math"/>
                <a:cs typeface="Cambria Math"/>
              </a:rPr>
              <a:t>P_ref / P_inc = |Γ|²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47FF2-B3F1-4447-B944-06B325B6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76450"/>
            <a:ext cx="28384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P_src = ½ Re(V_s I_s*)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P_load = ½ Re(V_l I_l*)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7236B-7502-4F80-AE12-95EBD146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71825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P_loss = P_src − P_load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72B3B-CB5C-430A-8FFB-215ADBE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2724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AC 値は peak フェーザ。電源電流は『電源から回路へ供給する向き』を正とする。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BC39B-E9DC-4BF9-AFC6-8975C6D2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86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閉合残差を保存し、電流計位置・損失モデル・符号の誤りを検出する。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0799F-079C-42EA-8F94-93382C3B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8384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V_rms = |V_pk|/√2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I_rms = |I_pk|/√2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926B0-F170-4200-8790-D5BE106C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33725"/>
            <a:ext cx="2838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P_ESR = I_rms² R_series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S_src = V_rms I_rms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5D9B8-F553-45DA-9E44-E61EE6D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反射が十分小さくても、部品電流・電圧・損失・電源 VA は独立に制約する。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70D45-8E95-4FAD-99D1-B38FCAC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81650"/>
            <a:ext cx="9563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0225A-D835-4837-888F-A028B936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0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線形 AC： V, I ∝ k   /   P, loss ∝ k²   /   Γ は振幅に依存しない</a:t>
            </a:r>
          </a:p>
        </p:txBody>
      </p:sp>
    </p:spTree>
    <p:extLst>
      <p:ext uri="{BB962C8B-B14F-4D97-AF65-F5344CB8AC3E}">
        <p14:creationId xmlns:p14="http://schemas.microsoft.com/office/powerpoint/2010/main" val="4643866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kicker-21">
            <a:extLst xmlns:a="http://schemas.openxmlformats.org/drawingml/2006/main">
              <a:ext uri="{FF2B5EF4-FFF2-40B4-BE49-F238E27FC236}">
                <a16:creationId xmlns:a16="http://schemas.microsoft.com/office/drawing/2014/main" id="{7219D79A-78F4-4B76-85D8-1AD823B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20  NUMERICAL METHOD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70567069-ED35-4745-ADAA-FB5EF6D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非等間隔標本を扱う過渡数値計算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9AD0D-4326-48AB-B97B-58AE5B3A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C7071-1EAD-4495-890B-F1FF601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C5B8A-D3AD-4A58-9E51-2A22111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385AF-D92E-4864-A20D-F5A7A663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59C24-007F-4567-93F5-F84BD50D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38EDA-7C24-4A0D-8D8E-FFD469C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AB82A-8939-4B4A-9AC4-5D97BFAE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D12AD-5F34-453F-883B-698AF52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62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正規化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CF358-3CDF-4530-A934-737A5ECD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有限値行、安定ソート、同一時刻平均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FDB34-9B72-4740-8919-3AD6501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6A1DC-B43F-45CF-8275-EC6E3EF8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CD1E5-2F2D-4983-8484-4571CDFE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03C6D-952E-4537-A3AA-7AAA7669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周期窓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BC8AF-FD7B-4D98-A145-6F9F0628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最終の整数周期だけを抽出</a:t>
            </a:r>
          </a:p>
        </p:txBody>
      </p:sp>
      <p:cxnSp>
        <p:nvCxnSpPr>
          <p:cNvPr id="68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771775" y="21145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15D1E-C9D6-4C15-A3B5-71FE3FF0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36F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FB118-FCDB-4CA2-8C47-53496C3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D7F98-747E-40F7-8585-873FBAB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9A6E0-AECC-4F35-9348-7635F88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整定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72D8D-0E7C-488C-9F3A-C1B2818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隣接周期を共通位相格子で比較</a:t>
            </a:r>
          </a:p>
        </p:txBody>
      </p:sp>
      <p:cxnSp>
        <p:nvCxnSpPr>
          <p:cNvPr id="74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771775" y="29813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E7D9F-818E-4C5A-83EB-1DB88ED9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5A761-43E7-4735-A370-082CC4D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FF28A-20F4-4541-BF10-0402830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4B2FA-EDF7-41F3-9956-2E68E22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624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フェーザ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A04D2-B5B7-4A19-9F75-2C38551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0075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台形重み付き最小二乗</a:t>
            </a:r>
          </a:p>
        </p:txBody>
      </p:sp>
      <p:cxnSp>
        <p:nvCxnSpPr>
          <p:cNvPr id="80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2771775" y="38481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F5AC8-2395-4641-81CD-57AAEB64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472B3-59F5-4B59-993A-FE26C1DD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D5706-37F3-47B3-BC68-4DC77D8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08441-6D7F-47A0-8FAC-95508640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指標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71BB2-AA92-463C-A752-A6B4860D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768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全必要信号が整定したときだけ計算</a:t>
            </a:r>
          </a:p>
        </p:txBody>
      </p:sp>
      <p:cxnSp>
        <p:nvCxnSpPr>
          <p:cNvPr id="86" name=""/>
          <p:cNvCxnSpPr>
            <a:stCxn xmlns:a="http://schemas.openxmlformats.org/drawingml/2006/main" id="24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771775" y="47148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A19F1-17F8-4252-9F94-B20C15C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66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非等間隔台形重み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3B90EF-E425-4585-AB48-22EF9C1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w₀=Δt₀/2,  wₙ₋₁=Δtₙ₋₂/2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wᵢ=(Δtᵢ₋₁+Δtᵢ)/2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174C32-F122-4754-9542-9C3329D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86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周期整定残差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9498D4-45C7-45D2-A0DC-C913379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581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ε = RMS(x_new−x_old) / max[RMS(x_new), ptp(x_new), 10⁻¹⁵]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80C3C2-9862-4F48-99B3-E8E7F49D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高調波フェーザ（指定周波数へ直接適合）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944BFF-CF5B-468F-BD45-E7C125F2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57700"/>
            <a:ext cx="581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θ̂ = arg minθ ‖W¹ᐟ²(Aθ−y)‖₂²,    X_h = a_h − jb_h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D46B64-281D-401E-946F-C8F282FF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524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計測周期 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D69AA5-20FA-43E8-8401-CD9B8C7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7721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14DE84-C8D9-481A-BD94-9F8EC10A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比較周期 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342D58-7131-4C91-ABAE-D77AC246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281D92-12C8-44C8-8BFD-E74265F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24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整定許容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1E971F-2941-4637-944F-18B073D1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7721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10⁻³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70B5B4-A711-42EA-88B7-85EBC0A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24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高調波次数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4A5247-A96A-4961-A204-8313707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721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6E816E-E273-4D9F-9132-E6C3C350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位相標本/周期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AC57A-E04A-4D67-B2C3-DDD48CC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7215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10480065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22">
            <a:extLst xmlns:a="http://schemas.openxmlformats.org/drawingml/2006/main">
              <a:ext uri="{FF2B5EF4-FFF2-40B4-BE49-F238E27FC236}">
                <a16:creationId xmlns:a16="http://schemas.microsoft.com/office/drawing/2014/main" id="{22E870E5-4337-4373-88FF-3A7362B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21  VERIFICATION SUITE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BFA86F7E-9650-4917-924A-20E7E97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411回の実 ngspice Core ベンチマーク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EC95E-C82C-41AA-B2F2-11C8A97F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8EF66-7E81-49CA-84EA-8603F74B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run: runs/benchmark_suite/benchmark_result.json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44614-AD46-46C0-9D6A-B9D0FFCD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67327-7942-4C83-BF6D-BB3D3F32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8650" y="1428750"/>
          <a:ext xmlns:a="http://schemas.openxmlformats.org/drawingml/2006/main" cx="733425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bc789cc7b74ca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27A3B-8A72-4E34-B302-85F1A512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43050"/>
            <a:ext cx="2628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6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46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411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53866-4487-4E0F-BD21-773CFD5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評価 / solver failures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C7513-D257-4C67-A52A-2986EE8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861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0B754-75B3-4298-AFEA-784AFBB5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628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25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16 /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8CC3C-BE29-4CE6-A473-1E25E7F9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宣言済みの期待挙動を再現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C680F-B929-4541-A3E3-34A2B053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1276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工学的 feasible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C091A-3892-45C4-87D2-C2FA2AE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29175"/>
            <a:ext cx="12763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21A82-6E53-45D5-B97C-8567DAF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意図的／診断的 infeasible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35934-AAA0-44AC-ADF2-0CE7D289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5240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B5599-E251-42D3-9C08-EDC754B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007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ベンチマーク合格には、期待した不合格判定を再現するケースも含む。</a:t>
            </a:r>
          </a:p>
        </p:txBody>
      </p:sp>
    </p:spTree>
    <p:extLst>
      <p:ext uri="{BB962C8B-B14F-4D97-AF65-F5344CB8AC3E}">
        <p14:creationId xmlns:p14="http://schemas.microsoft.com/office/powerpoint/2010/main" val="1459331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23">
            <a:extLst xmlns:a="http://schemas.openxmlformats.org/drawingml/2006/main">
              <a:ext uri="{FF2B5EF4-FFF2-40B4-BE49-F238E27FC236}">
                <a16:creationId xmlns:a16="http://schemas.microsoft.com/office/drawing/2014/main" id="{58486358-47FC-4B56-B2EF-E524DD4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22  CONTROL AUTHORITY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5D44A320-85F5-482F-ACCE-71B680C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B1–B3 整合点と調整余裕の分離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7747A-1E84-41B9-A394-5CF62FAE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DE5E5-F8B8-4E01-9029-7DC3369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04 / frozen B1–B3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07889-4A27-4033-949A-31ADF577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ECE9-AFBF-40AC-B1EC-BA76CBBC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37ABF-D9FD-4419-A78D-CA7F1B91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020050" cy="47434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22b0770334604"/>
          <a:stretch xmlns:a="http://schemas.openxmlformats.org/drawingml/2006/main"/>
        </p:blipFill>
        <p:spPr>
          <a:xfrm xmlns:a="http://schemas.openxmlformats.org/drawingml/2006/main">
            <a:off x="1333996" y="1485900"/>
            <a:ext cx="6761758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00773-F7D6-4B7D-BFA6-1A08ECC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457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0478">
            <a:solidFill>
              <a:srgbClr val="D13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1250E-AFF9-4B1E-8106-A82863D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6210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B1  fixed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383C5-EDEF-4B6B-B0E5-2C7AF32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669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feasible 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4C340-EBBC-46AA-B1EA-150A7C7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worst |Γ| 0.767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5C625-B810-4DE4-83CE-C45B720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90825"/>
            <a:ext cx="2457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0478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48929-70BC-48FC-8CE6-0FC375E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860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B2  limited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BCFBD-39E4-4E4C-8B60-C95C946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908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feasible 40%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3DB42-9D1E-46B1-88AF-7905E49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766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worst |Γ| 0.302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3条件は余裕不足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FA42F-F53F-487B-B056-C8A62412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24574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0478">
            <a:solidFill>
              <a:srgbClr val="74B7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3A567-0790-4D51-8D0A-D718AFA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B3  full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12B09-49CD-40A1-ABED-96A3AC12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148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feasible 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1F529-3681-47C5-983D-935E10D6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worst |Γ| 0.0388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min margin 0.2326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0AF70-39D5-4DA2-AB37-B279C52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62600"/>
            <a:ext cx="25336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18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B2 は反射上限を満たしても、操作範囲端のため候補全体として不合格。</a:t>
            </a:r>
          </a:p>
        </p:txBody>
      </p:sp>
    </p:spTree>
    <p:extLst>
      <p:ext uri="{BB962C8B-B14F-4D97-AF65-F5344CB8AC3E}">
        <p14:creationId xmlns:p14="http://schemas.microsoft.com/office/powerpoint/2010/main" val="12403425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24">
            <a:extLst xmlns:a="http://schemas.openxmlformats.org/drawingml/2006/main">
              <a:ext uri="{FF2B5EF4-FFF2-40B4-BE49-F238E27FC236}">
                <a16:creationId xmlns:a16="http://schemas.microsoft.com/office/drawing/2014/main" id="{AF6ADBE4-B697-4382-BCAC-1BEA3DF3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23  FREQUENCY CONFORMANCE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9A620F7D-8B0D-4C0C-9D65-92DB558D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A5 周波数点ごとの適合性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8B6CD-F9AB-4E21-8CCE-7EF70201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66E64-DE95-44F6-9D20-03F6F52F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A5 result / three discrete frequency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2F594-BCC3-47C4-BDB7-CCE5072C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69D-2BD8-4005-85A3-4220FB2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429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b40f11545244b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B8262-DA7B-4A79-8056-8BCECA57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7675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F41C7-AAA2-4BC2-9BD0-E7BD899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386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6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10% reflected-power limit  |Γ| = √0.1 = 0.3162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39B88-3106-49B6-AE46-C430465D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各点の入力インピーダンス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96447-9922-4643-880D-A859A6E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3009900" cy="8001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13C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494F8-C958-48B7-B614-FE87B7A0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10.00 MHz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72E65-E859-4747-BBA7-7B12BF46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383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BD005-DCB1-4A46-B259-313D45DB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717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16.751 + j865.457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23758-9999-4811-BFC8-72663B9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3009900" cy="8001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9525">
            <a:solidFill>
              <a:srgbClr val="74B7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602ED-C039-4D97-A00C-8BB11A6C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13.56 MHz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D87B5-1878-4C3A-9D71-CC8C6D41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B7A33-3186-4D55-B1CE-B8892EE8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623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50.000 − j0.000 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0A09E-735D-4969-9898-D77C8E3E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3009900" cy="80010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13C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E98F8-6BA3-4693-8B2F-C37C4D05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20.00 MHz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91287-2D18-4E60-BFAE-8EF5650C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19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B8233-401A-49FF-BE02-93B3DE0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529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0.782 + j957.868 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A3B44-3913-4368-96C5-8167A3F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67300"/>
            <a:ext cx="30099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3点は離散的な検証条件。点間の連続帯域や未測定点の合格を主張しない。</a:t>
            </a:r>
          </a:p>
        </p:txBody>
      </p:sp>
    </p:spTree>
    <p:extLst>
      <p:ext uri="{BB962C8B-B14F-4D97-AF65-F5344CB8AC3E}">
        <p14:creationId xmlns:p14="http://schemas.microsoft.com/office/powerpoint/2010/main" val="14814712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25">
            <a:extLst xmlns:a="http://schemas.openxmlformats.org/drawingml/2006/main">
              <a:ext uri="{FF2B5EF4-FFF2-40B4-BE49-F238E27FC236}">
                <a16:creationId xmlns:a16="http://schemas.microsoft.com/office/drawing/2014/main" id="{A7F12432-00C7-45B2-A3A2-8D1C447A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24  ELECTRICAL STRESS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8A03586B-144C-4E7C-BD10-075841C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B5 低反射と高駆動ストレス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F5151-8FBE-4F4D-964B-2C71CB3D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A481C-6F7B-4BF5-AC0E-629F75B9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06 / B5 high-drive stress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3D4EB-E278-48AC-94A4-E1B8005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A8A6-D8C3-4DF9-8378-6CFEFF58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64158-3A56-4895-91CB-0CAC2D1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1343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f9eb1613140ff"/>
          <a:stretch xmlns:a="http://schemas.openxmlformats.org/drawingml/2006/main"/>
        </p:blipFill>
        <p:spPr>
          <a:xfrm xmlns:a="http://schemas.openxmlformats.org/drawingml/2006/main">
            <a:off x="1391146" y="1485900"/>
            <a:ext cx="6761758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F1255-BC72-4AED-9020-AA856BCA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66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match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C44CD-2EC1-45B3-B56E-94AB405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24025"/>
            <a:ext cx="2362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|Γ| = 0.01104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F4BFE-5365-4A60-9639-B2D0E7BD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25 Vpk と 100 Vpk で不変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BDB0A-6817-46D5-8C29-59896276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100 Vpk / limit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481C3-3539-44E3-A200-88A6BB6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L1 current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5C53A-CB22-4C30-8E61-EB62503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28975"/>
            <a:ext cx="8763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2.08×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35F25-5639-4E34-AF4E-D0622154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528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L1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342B1-600C-4CC7-A7D6-4989648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52850"/>
            <a:ext cx="8763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4.34×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546F4-225F-4D46-9532-9DB7F1F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76725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source current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450A0-110C-4017-A1FD-6BB40953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76725"/>
            <a:ext cx="8763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1.42×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60AB3-5E68-4745-8914-E5BD2D8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006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source 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A88E6-D43D-487B-A3EE-50473D1D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00600"/>
            <a:ext cx="8763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2.01×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50EC2-EF2D-404F-9493-EC0C37A6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245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合否は反射係数だけで決めない。</a:t>
            </a:r>
          </a:p>
        </p:txBody>
      </p:sp>
    </p:spTree>
    <p:extLst>
      <p:ext uri="{BB962C8B-B14F-4D97-AF65-F5344CB8AC3E}">
        <p14:creationId xmlns:p14="http://schemas.microsoft.com/office/powerpoint/2010/main" val="2459605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26">
            <a:extLst xmlns:a="http://schemas.openxmlformats.org/drawingml/2006/main">
              <a:ext uri="{FF2B5EF4-FFF2-40B4-BE49-F238E27FC236}">
                <a16:creationId xmlns:a16="http://schemas.microsoft.com/office/drawing/2014/main" id="{28139956-7F55-4662-90DA-D59077E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25  AMPLITUDE &amp; POWER SCALING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056E637F-BDBD-49B1-B62F-2375092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B5 駆動振幅4倍で電力16倍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B871-DBAC-499D-A27B-B0D8E22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1076D-573F-4097-A246-2AFD46D8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10 / AC phasor-derived amplitudes and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24739-9F3E-4742-9C02-ACDBF2E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BD603-9525-4EAC-832C-919BB40C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F3D39-5AF2-4FE5-95D7-B46CD16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8013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e129a246d4363"/>
          <a:stretch xmlns:a="http://schemas.openxmlformats.org/drawingml/2006/main"/>
        </p:blipFill>
        <p:spPr>
          <a:xfrm xmlns:a="http://schemas.openxmlformats.org/drawingml/2006/main">
            <a:off x="2681486" y="1466850"/>
            <a:ext cx="6848078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EC2B8-CA13-4A72-8D4C-F91C2351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05500"/>
            <a:ext cx="796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線形回路では Γ と効率は一定でも、定格利用率は振幅・電力則に従って急増する。</a:t>
            </a:r>
          </a:p>
        </p:txBody>
      </p:sp>
    </p:spTree>
    <p:extLst>
      <p:ext uri="{BB962C8B-B14F-4D97-AF65-F5344CB8AC3E}">
        <p14:creationId xmlns:p14="http://schemas.microsoft.com/office/powerpoint/2010/main" val="5835847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7">
            <a:extLst xmlns:a="http://schemas.openxmlformats.org/drawingml/2006/main">
              <a:ext uri="{FF2B5EF4-FFF2-40B4-BE49-F238E27FC236}">
                <a16:creationId xmlns:a16="http://schemas.microsoft.com/office/drawing/2014/main" id="{04B63F0D-3682-40F2-8077-F5D27D18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26  DETERMINISTIC CORNERS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62AFC661-40A9-4462-B04D-976F94DD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B8 ±15%完全コーナーの判定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4835F-D3F1-490C-BEA7-ABE913EF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BEB46-F43B-4911-8015-5D83BED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07 / B8 component-value corners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2EB6E-AC19-4696-A033-2EA2996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107CE-AB2F-4F99-98D3-FE520C0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99E1C-4BF0-4D15-97CD-435CA497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81534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c8b0818ea4940"/>
          <a:stretch xmlns:a="http://schemas.openxmlformats.org/drawingml/2006/main"/>
        </p:blipFill>
        <p:spPr>
          <a:xfrm xmlns:a="http://schemas.openxmlformats.org/drawingml/2006/main">
            <a:off x="1400671" y="1485900"/>
            <a:ext cx="6761758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C7B9F-4100-4ED7-BF97-F6B258BF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763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2³ =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7C16F-9537-4BB2-B572-66AD47C5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C1 × L1 × C2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0.85 / 1.15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691BD-897A-4D26-AEDB-98E5943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236220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20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 / 8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71448-4A46-45CD-A68F-B71D72A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3622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worst |Γ| = 0.37249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66918-B438-4560-AEB8-C7AA982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95775"/>
            <a:ext cx="2286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C1=1.15 の4頂点はすべて不合格。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決定論的な頂点試験であり、分布・相関・故障率は含まない。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0.375を製造歩留まりと解釈しない。</a:t>
            </a:r>
          </a:p>
        </p:txBody>
      </p:sp>
    </p:spTree>
    <p:extLst>
      <p:ext uri="{BB962C8B-B14F-4D97-AF65-F5344CB8AC3E}">
        <p14:creationId xmlns:p14="http://schemas.microsoft.com/office/powerpoint/2010/main" val="19994397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8">
            <a:extLst xmlns:a="http://schemas.openxmlformats.org/drawingml/2006/main">
              <a:ext uri="{FF2B5EF4-FFF2-40B4-BE49-F238E27FC236}">
                <a16:creationId xmlns:a16="http://schemas.microsoft.com/office/drawing/2014/main" id="{DADF5925-6F8F-4E41-B647-F502F9B2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27  BOUNDARY NEGATIVE CONTROL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079E2B60-68D5-4DF9-8F2A-B2F25FD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D1–D3 基準面二重計上の負対照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79CCB-2A26-407A-B12B-E4DF822F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F28D7-C02B-44E3-AC73-948D0657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08 / D1–D3 frozen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EAB60-040C-423A-9B48-7AFE8BE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4AB96-A028-4AC3-91FA-9D7FDDA0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B3D3B-AA15-4C99-9D5D-12F87D6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9342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9f88ca5034011"/>
          <a:stretch xmlns:a="http://schemas.openxmlformats.org/drawingml/2006/main"/>
        </p:blipFill>
        <p:spPr>
          <a:xfrm xmlns:a="http://schemas.openxmlformats.org/drawingml/2006/main">
            <a:off x="838200" y="1517103"/>
            <a:ext cx="6667500" cy="441434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0" name=""/>
          <p:cNvGraphicFramePr/>
          <p:nvPr/>
        </p:nvGraphicFramePr>
        <p:xfrm>
          <a:off xmlns:a="http://schemas.openxmlformats.org/drawingml/2006/main" x="7905750" y="1619250"/>
          <a:ext xmlns:a="http://schemas.openxmlformats.org/drawingml/2006/main" cx="36004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971550"/>
                <a:gridCol w="1066800"/>
                <a:gridCol w="514350"/>
                <a:gridCol w="571500"/>
              </a:tblGrid>
              <a:tr h="61436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Case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表現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Z_in [Ω]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|Γ|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61436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治具を明示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49.291 − j3.739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0.0383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EFF7E5"/>
                    </a:solidFill>
                  </a:tcPr>
                </a:tc>
              </a:tr>
              <a:tr h="61436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D2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上流負荷へ1回埋込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49.291 − j3.739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0.0383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EFF7E5"/>
                    </a:solidFill>
                  </a:tcPr>
                </a:tc>
              </a:tr>
              <a:tr h="614363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治具を二重計上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75.905 − j36.571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0.3418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D13C58"/>
                          </a:solidFill>
                          <a:latin typeface="Yu Gothic"/>
                          <a:ea typeface="Yu Gothic"/>
                          <a:cs typeface="Yu Gothic"/>
                        </a:rPr>
                        <a:t>FAIL</a:t>
                      </a:r>
                    </a:p>
                  </a:txBody>
                  <a:tcPr marL="91440" marR="91440" marT="45720" marB="45720" anchor="ctr">
                    <a:solidFill>
                      <a:srgbClr val="FBEA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C9634-C08C-4653-9F31-2C16C7B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31051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|Γ| limit = 0.3162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00D9E-A169-40C5-AECB-4B9EAE9D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40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D1 と D2 の一致は、物理的に同じ治具を一度だけ表したことを確認する。D3 は同じ要素を二回含め、整合判定を PASS から FAIL へ変える。</a:t>
            </a:r>
          </a:p>
        </p:txBody>
      </p:sp>
    </p:spTree>
    <p:extLst>
      <p:ext uri="{BB962C8B-B14F-4D97-AF65-F5344CB8AC3E}">
        <p14:creationId xmlns:p14="http://schemas.microsoft.com/office/powerpoint/2010/main" val="8022522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29">
            <a:extLst xmlns:a="http://schemas.openxmlformats.org/drawingml/2006/main">
              <a:ext uri="{FF2B5EF4-FFF2-40B4-BE49-F238E27FC236}">
                <a16:creationId xmlns:a16="http://schemas.microsoft.com/office/drawing/2014/main" id="{95F0E552-1691-4861-A819-7926AD7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28  DATA SCIENCE HANDOFF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43AE7CEE-8C76-4BAF-9FC3-A1919EE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代理モデルを候補生成に限定したデータ連携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3441A-0B3E-4665-B62D-16B8DBDD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39A2E-7691-4969-9FBB-6E7C380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3375C-6778-46C3-B0A7-1B7721D0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2D4E4-864D-4898-AFB3-872493CE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704850" y="1504950"/>
          <a:ext xmlns:a="http://schemas.openxmlformats.org/drawingml/2006/main" cx="5619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4343400"/>
              </a:tblGrid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必須事項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行粒度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一つの Candidate × Scenario × ControlState × 電気評価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識別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dataset_id / cache_key / raw_cache_key / solver fingerprint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design.* / scenario.* / control.* を役割別に保持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欠測・失敗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status を目的と同列に保持。失敗を数値ゼロへ置換しない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68262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分割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装置・測定系列・時間・raw cache を跨ぐ漏洩を禁止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AA671-531A-4F5F-9FB1-6468A18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668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推奨ループ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7A318-39CF-4F31-B5C7-006D5B8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95475"/>
            <a:ext cx="401955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1430">
            <a:solidFill>
              <a:srgbClr val="00A8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B56E5-2930-4DD1-89F4-6EB3A5CC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716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 データ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6EA9E-3BDB-4F8C-9E37-910AD11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全試行 + 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4C739-13C6-4E32-BC1B-84A9372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76525"/>
            <a:ext cx="401955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32BFC-70AF-43A9-A306-0D02188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527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group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8331E-CE42-48FB-A3A1-5BB25FA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5272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装置・時間・系列で分離</a:t>
            </a:r>
          </a:p>
        </p:txBody>
      </p:sp>
      <p:cxnSp>
        <p:nvCxnSpPr>
          <p:cNvPr id="4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134475" y="24479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66E51-7CF5-4C1F-AA97-CCE8DADB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57575"/>
            <a:ext cx="401955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1430">
            <a:solidFill>
              <a:srgbClr val="F36F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5398-23B0-4B77-8D76-FA7B5D0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337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failure-aware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72542-7E8E-47C0-8939-96DDFD5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3377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分類 + 条件付き回帰</a:t>
            </a:r>
          </a:p>
        </p:txBody>
      </p:sp>
      <p:cxnSp>
        <p:nvCxnSpPr>
          <p:cNvPr id="47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134475" y="32289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F7467-97F4-4300-994D-E3FB1B6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38625"/>
            <a:ext cx="401955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6F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5BAA9E-5766-493B-A1E0-0E657E17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148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候補提案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EAAA0-CE3A-4F1F-8B89-E800259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1482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適用範囲・不確かさ付き</a:t>
            </a:r>
          </a:p>
        </p:txBody>
      </p:sp>
      <p:cxnSp>
        <p:nvCxnSpPr>
          <p:cNvPr id="51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134475" y="40100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B2846-BAA5-4A34-8863-AF6B9A8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9675"/>
            <a:ext cx="4019550" cy="55245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1430">
            <a:solidFill>
              <a:srgbClr val="74B7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13169-08DD-43F2-99FE-B98695A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958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PCD exact re-evaluation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8F0F1-99DE-48E1-80B0-ED8CA800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95875"/>
            <a:ext cx="1885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最終判断は厳密ソルバー</a:t>
            </a:r>
          </a:p>
        </p:txBody>
      </p:sp>
      <p:cxnSp>
        <p:nvCxnSpPr>
          <p:cNvPr id="55" name=""/>
          <p:cNvCxnSpPr>
            <a:stCxn xmlns:a="http://schemas.openxmlformats.org/drawingml/2006/main" id="2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134475" y="47910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DEE4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A7112-4FBE-4954-921A-6B54CE06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0287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禁止：selected_control を入力特徴へ混入／ランダム行分割／失敗行の黙示除外</a:t>
            </a:r>
          </a:p>
        </p:txBody>
      </p:sp>
    </p:spTree>
    <p:extLst>
      <p:ext uri="{BB962C8B-B14F-4D97-AF65-F5344CB8AC3E}">
        <p14:creationId xmlns:p14="http://schemas.microsoft.com/office/powerpoint/2010/main" val="19939802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30">
            <a:extLst xmlns:a="http://schemas.openxmlformats.org/drawingml/2006/main">
              <a:ext uri="{FF2B5EF4-FFF2-40B4-BE49-F238E27FC236}">
                <a16:creationId xmlns:a16="http://schemas.microsoft.com/office/drawing/2014/main" id="{E14BF8CA-448E-474F-B3A3-158FA1E8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29  CIRCUIT THEORY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EB19C5CB-85FF-49FB-ABCC-77A1329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整合回路の複素インピーダンスと損失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12151-75B7-4D82-A450-DB3F1CD9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E3EEB-051B-435C-8B29-2E04683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§§11.1–11.3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BE7F2-6EFA-45EF-A397-24EA2435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D103D-FDAE-4C69-A23D-9E5C0533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1E319-0DA4-4721-AAD0-56DB6A2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219700" cy="4762500"/>
          </a:xfrm>
          <a:prstGeom xmlns:a="http://schemas.openxmlformats.org/drawingml/2006/main" prst="roundRect">
            <a:avLst>
              <a:gd name="adj" fmla="val 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f3701282d47e1"/>
          <a:stretch xmlns:a="http://schemas.openxmlformats.org/drawingml/2006/main"/>
        </p:blipFill>
        <p:spPr>
          <a:xfrm xmlns:a="http://schemas.openxmlformats.org/drawingml/2006/main">
            <a:off x="838200" y="2087749"/>
            <a:ext cx="4914900" cy="325400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1844E-DAD7-49FC-8150-3F95339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基本素子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1A766-66FF-4711-BDEE-D65F9FB7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238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Z_R=R,   Z_L=jωL,   Z_C=1/(jωC)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71771-0387-4850-BB08-47975FA3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L-match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C5277-C9AA-4007-B8AB-ACAD949A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238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Z_in,L = jωL₁ + ( Z_load ∥ 1/(jωC₁) 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CE528-665A-4640-A88A-A4BCEB12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Pi-match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F4F23-97AA-40AA-8F8C-C1D4596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52387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Z_out = Z_load ∥ 1/(jωC₂)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Z_in,π = 1/(jωC₁) ∥ (jωL₁ + Z_out)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BACCF-8615-4C7F-9E12-03B3A2E1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1752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実効直列損失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C82F7-F5A3-4CF3-8F5C-DFD932E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72100"/>
            <a:ext cx="523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Z_L,lossy=R_s+jωL,   Z_C,lossy=R_s+1/(jωC)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DD252-5E07-48A1-B7BF-535AEC3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0550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R_s は対象周波数・温度で与える実効値。温度上昇と寿命は別の熱設計で確認する。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1278963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31">
            <a:extLst xmlns:a="http://schemas.openxmlformats.org/drawingml/2006/main">
              <a:ext uri="{FF2B5EF4-FFF2-40B4-BE49-F238E27FC236}">
                <a16:creationId xmlns:a16="http://schemas.microsoft.com/office/drawing/2014/main" id="{D1ED6179-6CCC-4345-ACAB-CD20995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30  PHYSICS REVIEW</a:t>
            </a:r>
          </a:p>
        </p:txBody>
      </p:sp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650897E8-2AD0-4130-A49E-F45C912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等価負荷モデルの識別可能性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0A48A-B491-4C16-BB21-E8DDF79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FE483-3155-48FA-AD57-9D2DA38D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§12.4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1EF91-7C4C-4216-A28F-013860DE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F1426-FB9C-4E10-9642-68D83BE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3B766-DB1E-4456-9027-AB235920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070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単一周波数の複素インピーダンスが与える独立情報は実部と虚部の2個。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3自由度以上を一意同定するには、周波数・状態・独立拘束を追加する。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7B47-4190-4306-9310-FF04AF37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86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r(θ) = [ Re(Z(ω₁;θ)−Z₁obs),  Im(Z(ω₁;θ)−Z₁obs), … ]ᵀ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9821-754B-45A3-AE18-5D8B88D3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686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J(θ) = r(θ)ᵀ W r(θ),   W = Σ⁻¹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E5295-0045-4E4E-8B24-A0AFB12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6686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S = ∂r/∂θ ∈ ℝ²ᴺˣᵖ,   rank(S)=p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76FA3-8644-457C-A01D-85F1828F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676650" cy="215265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91F60-1947-4776-8F71-FE2C0E2B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859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承認判断で確認する量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604E8-0FBA-4D40-920F-7F86F78D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3105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残差の大きさと構造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感度行列のランクと条件数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パラメータ相関と初期値依存性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同定に未使用の保留条件</a:t>
            </a:r>
          </a:p>
          <a:p xmlns:a="http://schemas.openxmlformats.org/drawingml/2006/main">
            <a:pPr marL="266700" indent="-139700" algn="l">
              <a:lnSpc>
                <a:spcPct val="108000"/>
              </a:lnSpc>
              <a:spcAft>
                <a:spcPts val="500"/>
              </a:spcAft>
              <a:buNone/>
              <a:defRPr sz="1125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受動性と適用範囲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723900" y="4343400"/>
          <a:ext xmlns:a="http://schemas.openxmlformats.org/drawingml/2006/main" cx="1076325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2381250"/>
                <a:gridCol w="3486150"/>
                <a:gridCol w="3067050"/>
              </a:tblGrid>
              <a:tr h="44767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主な自由度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最低限必要な識別情報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独立確認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44767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impedance_point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R, 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一周波数の複素V/I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同一基準面の繰返し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ccp_lumped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R_eff, L_eff, C_eq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複数周波数または独立拘束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保留条件の複素Z残差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447675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icp_transformer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R_c, L_c, L_r, γ, C_p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消灯/点灯、周波数掃引、ダミー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3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複素Zと実電力の整合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6062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32">
            <a:extLst xmlns:a="http://schemas.openxmlformats.org/drawingml/2006/main">
              <a:ext uri="{FF2B5EF4-FFF2-40B4-BE49-F238E27FC236}">
                <a16:creationId xmlns:a16="http://schemas.microsoft.com/office/drawing/2014/main" id="{B6BB3DB9-3B38-445C-9653-21D8AFE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31  CIRCUIT REVIEW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A63EB04B-0D21-4C8E-946C-09506A1D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B5 ポート波形と位相関係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DBAC6-B7ED-4B70-81A2-1480F27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850A4-3D53-490F-A3AC-8E7F9594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Benchmark figure 09 / frozen B5 phasors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E7088-BE27-4419-BA7D-BE6498E8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F05C7-A0DB-4F8A-ABB3-1077AF1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5D2AF-8ACB-4FC0-943B-DA1CF34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229600" cy="4800600"/>
          </a:xfrm>
          <a:prstGeom xmlns:a="http://schemas.openxmlformats.org/drawingml/2006/main" prst="roundRect">
            <a:avLst>
              <a:gd name="adj" fmla="val 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776595d2b4754"/>
          <a:stretch xmlns:a="http://schemas.openxmlformats.org/drawingml/2006/main"/>
        </p:blipFill>
        <p:spPr>
          <a:xfrm xmlns:a="http://schemas.openxmlformats.org/drawingml/2006/main">
            <a:off x="1347788" y="1466850"/>
            <a:ext cx="6905625" cy="4572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4F96B-ED7D-4E12-BE47-CFF6985B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定常基本波の関係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DF063-2CFF-40CB-B040-E4FFE72D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5737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9525">
            <a:solidFill>
              <a:srgbClr val="00A8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65C35-4A44-41F2-A4C1-FDB2BDB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335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電圧比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C8E6A-C10D-4586-BBA6-3220848D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|Vout| / |Vin| = 2.370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4197A-AD6B-4E43-8625-F07AF91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36F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AE01B-0894-4E3D-AEB2-BFFC1C1A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146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電圧位相差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85E68-5E31-4187-B672-7FEE88F5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337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−120.7°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F63BA-05D3-4296-8A18-8B9AEFD2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1947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9525">
            <a:solidFill>
              <a:srgbClr val="74B7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465A-C036-4FE6-8BB8-41896C1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電流比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78C80-E7A9-4444-A660-0FA9252A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|Iload| / |Iin| = 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1AF05-B1F3-46FC-BDE9-58C6F95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00525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F7"/>
          </a:solidFill>
          <a:ln xmlns:a="http://schemas.openxmlformats.org/drawingml/2006/main" w="9525">
            <a:solidFill>
              <a:srgbClr val="7F2A9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004AE-4B68-46CB-B29E-9BDB6E3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7672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電流位相差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33F02-4A8B-4B6D-977C-A4DF862E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−49.1°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25EA0-D2A0-4F0B-B9E1-4617F5D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244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6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96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25 Vpkと100 Vpkで位相関係は同一。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6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96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振幅だけが4倍となり、線形ACの振幅則と整合する。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AACE8-4851-42C5-B959-3475EA4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829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図はACフェーザから再構成した定常正弦波であり、過渡解析や高調波解析の結果ではない。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8643804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33">
            <a:extLst xmlns:a="http://schemas.openxmlformats.org/drawingml/2006/main">
              <a:ext uri="{FF2B5EF4-FFF2-40B4-BE49-F238E27FC236}">
                <a16:creationId xmlns:a16="http://schemas.microsoft.com/office/drawing/2014/main" id="{4A08AEC7-EB6C-4E6A-A84D-4DE70E6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32  EQUIPMENT INTEGRATION</a:t>
            </a:r>
          </a:p>
        </p:txBody>
      </p:sp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1D136B34-3DE5-4CE4-AD58-BABB9C72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半導体製造装置への組込み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A5458-99A1-43AF-9DF8-CA850BC1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FB00-2F6F-44F5-A13E-E59CC4A1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Measurement to design to apparatus qualification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20F44-9D64-4C84-A601-BD8C91B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35B1B-A1CE-417C-A5B7-C8E27537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A1D7F-ACD6-4F16-8D59-6E956A6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3C5FB-6514-4348-95C6-63E6547A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AD5E3-84BF-4220-929D-74C08B89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17AF0-104E-4A1D-9F94-5FAA8762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002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計測系定義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ED98D-4F7B-44E8-9471-0F730B28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装置・計測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662CB-414B-4484-B73F-F3B4D3F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基準面、校正、繰返しID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0C5B4-BCFB-4768-A9EF-B5135089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668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57EC4-5258-45F1-83D3-ED3493A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668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04168-BDC4-4B15-B100-A8FEB09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16156-06C1-4068-9460-483374F8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デエンベディング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AB4AC-3CF3-4DE2-BABD-24214241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RF計測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864C5-E7E2-4C10-9113-4D52D983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fixture除去済み R+jX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55B91-C9D7-4459-BC4A-494CA677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668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F2A9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083E3-12EB-4B45-83EE-8D70419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668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2A9D"/>
          </a:solidFill>
          <a:ln xmlns:a="http://schemas.openxmlformats.org/drawingml/2006/main" w="0">
            <a:solidFill>
              <a:srgbClr val="7F2A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4C6A4-8738-4B3D-9837-1CB5AE72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85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995BF-DAE6-44D7-8B67-AA7C7D5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等価負荷の同定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CCFEA-C6EC-4F57-8CE2-FDA6898E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物理・モデル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FD8F4-A43D-4614-9D53-38A7334F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残差、適用範囲、保留点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2DCAB-0AB6-4154-9AD7-B949BB9C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9CAF4-898E-4765-BA13-E36F7647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337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526F4-6DAD-4F7C-B8C3-1AEE6A2A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52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C6771-32E7-4C26-A11E-07868D2A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PCD設計評価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1ACF6-A8D2-49C2-86F6-2A3DB97D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回路設計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CF79A-FB77-466B-A439-BA67DC4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固定回路、チューナ、全制約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4E5FD-6AA2-4981-A729-DD13C012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9F5899-0F58-4D56-B68A-7F11326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337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E5C94-8755-41E3-865D-3DFAAECE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E9248D-4026-42BB-A7D7-0DED53E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段階的電力試験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A41C83-B680-4CA5-AB8D-46125FE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回路・安全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1D87BB-F93B-4B67-B216-1A39D55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V/I、損失、温度、保護動作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BA138-1118-4C14-B77B-C15055B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C5989-CA26-4112-9F40-581E1901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F611C5-9897-4B26-9B99-7BABF074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5531B1-719E-436B-B50C-75607461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装置・工程適格性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099394-5BCD-4909-BB54-44E0F18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装置・プロセス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DF7EA3-33A7-4818-9C01-E08742C9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再現性、工程窓、寿命</a:t>
            </a:r>
          </a:p>
        </p:txBody>
      </p:sp>
      <p:cxnSp>
        <p:nvCxnSpPr>
          <p:cNvPr id="9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38550" y="20669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896100" y="20669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2A9D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677275" y="2667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5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6896100" y="3933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1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3638550" y="39338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EB285A-57B1-41D0-92E1-146ECE6A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466850"/>
            <a:ext cx="10096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B3F043-D26D-4020-826A-3909531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343150"/>
            <a:ext cx="704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証拠の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引継ぎ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1B5CE4-A006-449E-9126-DB7D351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PCDが支援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164ACE-A983-4D94-BA55-47132FC2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3257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電気回路の全列挙評価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失敗理由と調整余裕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654C85-03E5-4F12-A4A0-74B43144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29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7F2A9D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7F2A9D"/>
                </a:solidFill>
                <a:latin typeface="Yu Gothic"/>
                <a:ea typeface="Yu Gothic"/>
                <a:cs typeface="Yu Gothic"/>
              </a:rPr>
              <a:t>外部証拠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4440C9-73D0-4372-85CE-0D41D75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72100"/>
            <a:ext cx="3257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校正済み測定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熱・安全・工程データ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D3122F-E422-4D3B-9FF2-480414F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292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最終ゲート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2870C0-6186-44AA-8F03-CE38C851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72100"/>
            <a:ext cx="32575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装置固有の設計審査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工程・量産適格性</a:t>
            </a:r>
          </a:p>
        </p:txBody>
      </p:sp>
    </p:spTree>
    <p:extLst>
      <p:ext uri="{BB962C8B-B14F-4D97-AF65-F5344CB8AC3E}">
        <p14:creationId xmlns:p14="http://schemas.microsoft.com/office/powerpoint/2010/main" val="11154474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4">
            <a:extLst xmlns:a="http://schemas.openxmlformats.org/drawingml/2006/main">
              <a:ext uri="{FF2B5EF4-FFF2-40B4-BE49-F238E27FC236}">
                <a16:creationId xmlns:a16="http://schemas.microsoft.com/office/drawing/2014/main" id="{A81509F5-4F40-42CE-A80F-F20E23B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33  QUALIFICATION PLAN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1FA2CB9E-F45F-4F31-B942-401FD34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実機検証計画と停止基準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0BE6C-ADBD-4A52-82CF-8426B66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5C751-CB05-4DED-816C-319FF97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Proposed staged verification for equipment adoption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4E83C-B8B5-4C51-A03F-AC0D256C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93E85-56F1-4D36-8C1A-DE2DEBBA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3716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2133600"/>
                <a:gridCol w="2571750"/>
                <a:gridCol w="3657600"/>
                <a:gridCol w="1790700"/>
              </a:tblGrid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主要計測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合格・停止基準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主担当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G0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計測チェーン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校正残差、基準面、繰返し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校正有効。基準面とfixture版が一致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RF計測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G1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50 Ω / ダミー負荷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Γ、進行/反射電力、V/I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既知負荷を許容差内で再現。逸脱時は測定系を是正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回路・計測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F36F21"/>
                          </a:solidFill>
                          <a:latin typeface="Yu Gothic"/>
                          <a:ea typeface="Yu Gothic"/>
                          <a:cs typeface="Yu Gothic"/>
                        </a:rPr>
                        <a:t>G2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チャンバ接続・非点火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複素Z、寄生、共振、温度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PCDモデル範囲内。異常共振または絶縁兆候で停止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装置・回路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F36F21"/>
                          </a:solidFill>
                          <a:latin typeface="Yu Gothic"/>
                          <a:ea typeface="Yu Gothic"/>
                          <a:cs typeface="Yu Gothic"/>
                        </a:rPr>
                        <a:t>G3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低電力プラズマ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Γ、V/I、温度、保護動作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安定運転と閉合確認。アーク、未整定、過温で停止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装置・安全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G4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対象運転窓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全条件の電気量、再現性、工程指標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電気制約と工程要求を同時に満足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装置・プロセス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G5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長時間・反復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ドリフト、部品温度、絶縁、故障履歴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寿命・保全・ばらつき要求を満足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878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信頼性・製造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C2A74-0998-4FFB-AACC-AA3D0D8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電気ゲート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FB1FF-5B7E-4225-A459-9DBDEA0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33718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反射、端子V/I、損失、電源VA、調整余裕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15DB6-A72A-4A29-AA00-5757A1B0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816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熱・安全ゲート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93FA5-5F84-47F9-8592-8044723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67400"/>
            <a:ext cx="33718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温度、絶縁、アーク、インターロック、ディレーティング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69515-121D-466E-86AF-9ED1823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816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工程ゲート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9D1FE-D5C0-40AB-BCE9-11C8B76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33718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再現性、均一性、レシピ窓、量産ドリフト</a:t>
            </a:r>
          </a:p>
        </p:txBody>
      </p:sp>
    </p:spTree>
    <p:extLst>
      <p:ext uri="{BB962C8B-B14F-4D97-AF65-F5344CB8AC3E}">
        <p14:creationId xmlns:p14="http://schemas.microsoft.com/office/powerpoint/2010/main" val="71592696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35">
            <a:extLst xmlns:a="http://schemas.openxmlformats.org/drawingml/2006/main">
              <a:ext uri="{FF2B5EF4-FFF2-40B4-BE49-F238E27FC236}">
                <a16:creationId xmlns:a16="http://schemas.microsoft.com/office/drawing/2014/main" id="{2CF9AC9A-AB63-4FC9-8C82-E7B5582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34  REVIEW GATE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F1EAA9FC-215D-4E94-B1CF-84DF40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325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採用判断に必要な証拠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D0EE5-81A5-486B-94D6-D6FE0573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C5B72-611A-4D4B-94BA-3DC7975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Technical specification §§19–21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9BFE-FAC5-4909-B2F9-4AD0682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48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96E7E-BD54-4811-8C6B-8E55AB64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04850" y="1485900"/>
          <a:ext xmlns:a="http://schemas.openxmlformats.org/drawingml/2006/main" cx="108013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486150"/>
                <a:gridCol w="4514850"/>
                <a:gridCol w="1371600"/>
              </a:tblGrid>
              <a:tr h="69723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ゲート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審査質問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必要証拠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PCD単体</a:t>
                      </a:r>
                    </a:p>
                  </a:txBody>
                  <a:tcPr marL="91440" marR="91440" marT="45720" marB="45720" anchor="ctr">
                    <a:solidFill>
                      <a:srgbClr val="00A8D7"/>
                    </a:solidFill>
                  </a:tcPr>
                </a:tc>
              </a:tr>
              <a:tr h="69723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00A8D7"/>
                          </a:solidFill>
                          <a:latin typeface="Yu Gothic"/>
                          <a:ea typeface="Yu Gothic"/>
                          <a:cs typeface="Yu Gothic"/>
                        </a:rPr>
                        <a:t>1  電気受入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全条件で反射・V/I・損失・余裕を満たすか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Candidate/Scenario/Control 全評価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判定可能</a:t>
                      </a:r>
                    </a:p>
                  </a:txBody>
                  <a:tcPr marL="91440" marR="91440" marT="45720" marB="45720" anchor="ctr">
                    <a:solidFill>
                      <a:srgbClr val="EFF7E5"/>
                    </a:solidFill>
                  </a:tcPr>
                </a:tc>
              </a:tr>
              <a:tr h="69723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74B72E"/>
                          </a:solidFill>
                          <a:latin typeface="Yu Gothic"/>
                          <a:ea typeface="Yu Gothic"/>
                          <a:cs typeface="Yu Gothic"/>
                        </a:rPr>
                        <a:t>2  証拠完全性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失敗・基準面・単位・指紋・成果物が追跡可能か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 snapshot / hashes / raw artifacts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判定可能</a:t>
                      </a:r>
                    </a:p>
                  </a:txBody>
                  <a:tcPr marL="91440" marR="91440" marT="45720" marB="45720" anchor="ctr">
                    <a:solidFill>
                      <a:srgbClr val="EFF7E5"/>
                    </a:solidFill>
                  </a:tcPr>
                </a:tc>
              </a:tr>
              <a:tr h="69723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36F21"/>
                          </a:solidFill>
                          <a:latin typeface="Yu Gothic"/>
                          <a:ea typeface="Yu Gothic"/>
                          <a:cs typeface="Yu Gothic"/>
                        </a:rPr>
                        <a:t>3  モデル適用性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一ポートが対象装置・範囲・基準面を説明するか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校正済み測定・同定残差・保留点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外部証拠が必要</a:t>
                      </a:r>
                    </a:p>
                  </a:txBody>
                  <a:tcPr marL="91440" marR="91440" marT="45720" marB="45720" anchor="ctr">
                    <a:solidFill>
                      <a:srgbClr val="FFF0E7"/>
                    </a:solidFill>
                  </a:tcPr>
                </a:tc>
              </a:tr>
              <a:tr h="697230"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D13C58"/>
                          </a:solidFill>
                          <a:latin typeface="Yu Gothic"/>
                          <a:ea typeface="Yu Gothic"/>
                          <a:cs typeface="Yu Gothic"/>
                        </a:rPr>
                        <a:t>4  装置適格性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熱・寿命・安全・工程・制御動特性を満たすか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l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部品資料・実機試験・FMEA・工程評価</a:t>
                      </a:r>
                    </a:p>
                  </a:txBody>
                  <a:tcPr marL="91440" marR="91440" marT="45720" marB="45720" anchor="ctr">
                    <a:solidFill>
                      <a:srgbClr val="F3F5F7"/>
                    </a:solidFill>
                  </a:tcPr>
                </a:tc>
                <a:tc>
                  <a:txBody>
                    <a:bodyPr lIns="66675" tIns="38100" rIns="6667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B2E33"/>
                          </a:solidFill>
                          <a:latin typeface="Yu Gothic"/>
                          <a:ea typeface="Yu Gothic"/>
                          <a:cs typeface="Yu Gothic"/>
                        </a:rPr>
                        <a:t>責務外</a:t>
                      </a:r>
                    </a:p>
                  </a:txBody>
                  <a:tcPr marL="91440" marR="91440" marT="45720" marB="45720" anchor="ctr">
                    <a:solidFill>
                      <a:srgbClr val="FBEAE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C42CB-AE87-42E6-86BA-39C2EAE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8013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FFA6C-B83D-414E-AA40-8BED9D2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5C1D9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5C1D9"/>
                </a:solidFill>
                <a:latin typeface="Yu Gothic"/>
                <a:ea typeface="Yu Gothic"/>
                <a:cs typeface="Yu Gothic"/>
              </a:rPr>
              <a:t>採用判断の原則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8294-CC45-4E2F-BA71-0B1B4C55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0200"/>
            <a:ext cx="817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PCD は再現可能な電気判断と監査証拠を提供する。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モデル妥当性と装置適格性は、独立した測定・熱・安全・工程証拠で閉じる。</a:t>
            </a:r>
          </a:p>
        </p:txBody>
      </p:sp>
    </p:spTree>
    <p:extLst>
      <p:ext uri="{BB962C8B-B14F-4D97-AF65-F5344CB8AC3E}">
        <p14:creationId xmlns:p14="http://schemas.microsoft.com/office/powerpoint/2010/main" val="333244149"/>
      </p:ext>
    </p:extLst>
  </p:cSld>
</p:sld>
</file>

<file path=ppt/theme/theme1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2026-09-17T04:20:03.2130000Z</dcterms:created>
  <dcterms:modified xsi:type="dcterms:W3CDTF">2026-09-17T04:20:03.2130000Z</dcterms:modified>
</coreProperties>
</file>